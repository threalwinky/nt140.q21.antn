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5428B"/>
                </a:solidFill>
                <a:latin typeface="Arial"/>
              </a:rPr>
              <a:t>SISTAR: phát hiện và giảm thiểu DDoS
bằng Programmable Data Plane</a:t>
            </a:r>
          </a:p>
          <a:p>
            <a:pPr algn="ctr">
              <a:defRPr sz="1600">
                <a:solidFill>
                  <a:srgbClr val="282828"/>
                </a:solidFill>
                <a:latin typeface="Arial"/>
              </a:defRPr>
            </a:pPr>
            <a:r>
              <a:t>Tóm tắt paper, đánh giá thực tế, và hướng dẫn hiện thực hóa một phần ý tưởng</a:t>
            </a:r>
          </a:p>
          <a:p>
            <a:pPr algn="ctr">
              <a:defRPr sz="1400">
                <a:solidFill>
                  <a:srgbClr val="C0392B"/>
                </a:solidFill>
                <a:latin typeface="Arial"/>
              </a:defRPr>
            </a:pPr>
            <a:r>
              <a:t>Paper: ACM CCS 2025 | File: paper.pdf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428B"/>
                </a:solidFill>
                <a:latin typeface="Arial"/>
              </a:rPr>
              <a:t>1. Bài toán paper giải quyết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Phát hiện và giảm thiểu DDoS ngay trong mạng, thay vì phụ thuộc nhiều vào server hoặc control plane.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Xử lý cả flooding attack và application-layer / protocol-based attack.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Mục tiêu kép: giữ độ chính xác cao nhưng vẫn tiết kiệm tài nguyên trên programmable switch.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Bối cảnh trọng tâm: triển khai trên nhiều switch để phòng thủ phân tán, không chỉ bảo vệ cục bộ.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428B"/>
                </a:solidFill>
                <a:latin typeface="Arial"/>
              </a:rPr>
              <a:t>2. Mô hình đe dọa và giả định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Mô hình đe dọa</a:t>
            </a:r>
          </a:p>
          <a:p>
            <a:pPr lvl="1">
              <a:defRPr sz="1500">
                <a:solidFill>
                  <a:srgbClr val="282828"/>
                </a:solidFill>
                <a:latin typeface="Arial"/>
              </a:defRPr>
            </a:pPr>
            <a:r>
              <a:t>Kẻ tấn công bơm lưu lượng độc hại từ nhiều nguồn để làm cạn băng thông hoặc tài nguyên dịch vụ.</a:t>
            </a:r>
          </a:p>
          <a:p>
            <a:pPr lvl="1">
              <a:defRPr sz="1500">
                <a:solidFill>
                  <a:srgbClr val="282828"/>
                </a:solidFill>
                <a:latin typeface="Arial"/>
              </a:defRPr>
            </a:pPr>
            <a:r>
              <a:t>Lưu lượng đi qua topo kiểu gateway leaf → spine → server leaf.</a:t>
            </a:r>
          </a:p>
          <a:p>
            <a:pPr lvl="1">
              <a:defRPr sz="1500">
                <a:solidFill>
                  <a:srgbClr val="282828"/>
                </a:solidFill>
                <a:latin typeface="Arial"/>
              </a:defRPr>
            </a:pPr>
            <a:r>
              <a:t>Tấn công gồm cả SYN/UDP/ICMP flood và attack tầng ứng dụng như GoldenEye, Hulk, Slowloris.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3444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Giả định của paper</a:t>
            </a:r>
          </a:p>
          <a:p>
            <a:pPr lvl="1">
              <a:defRPr sz="1500">
                <a:solidFill>
                  <a:srgbClr val="282828"/>
                </a:solidFill>
                <a:latin typeface="Arial"/>
              </a:defRPr>
            </a:pPr>
            <a:r>
              <a:t>Mạng thuộc một miền quản trị thống nhất.</a:t>
            </a:r>
          </a:p>
          <a:p>
            <a:pPr lvl="1">
              <a:defRPr sz="1500">
                <a:solidFill>
                  <a:srgbClr val="282828"/>
                </a:solidFill>
                <a:latin typeface="Arial"/>
              </a:defRPr>
            </a:pPr>
            <a:r>
              <a:t>Có programmable switch hỗ trợ P4/PISA.</a:t>
            </a:r>
          </a:p>
          <a:p>
            <a:pPr lvl="1">
              <a:defRPr sz="1500">
                <a:solidFill>
                  <a:srgbClr val="282828"/>
                </a:solidFill>
                <a:latin typeface="Arial"/>
              </a:defRPr>
            </a:pPr>
            <a:r>
              <a:t>Switch có thể trích một số packet/flow feature và gửi alert packet cho nhau.</a:t>
            </a:r>
          </a:p>
          <a:p>
            <a:pPr lvl="1">
              <a:defRPr sz="1500">
                <a:solidFill>
                  <a:srgbClr val="282828"/>
                </a:solidFill>
                <a:latin typeface="Arial"/>
              </a:defRPr>
            </a:pPr>
            <a:r>
              <a:t>Có thể retrain mô hình khi xuất hiện attack mới.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428B"/>
                </a:solidFill>
                <a:latin typeface="Arial"/>
              </a:rPr>
              <a:t>3. Vì sao bài toán khó?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Accuracy cao thường đòi hỏi nhiều feature và nhiều threshold, nhưng switch lại bị giới hạn SRAM, TCAM, stage và table entry.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Mapping mô hình ML sang P4 pipeline không trực tiếp; càng nhiều threshold thì encoding càng dài và bảng càng lớn.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Một switch đơn lẻ khó xử lý tốt DDoS phân tán, nên phải có cơ chế hợp tác giữa nhiều switch.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Paper nhắm đúng trade-off giữa detection quality và deployability.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428B"/>
                </a:solidFill>
                <a:latin typeface="Arial"/>
              </a:rPr>
              <a:t>4. Ý tưởng chính của SISTAR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Chọn một tập feature nhỏ nhưng giàu thông tin, kết hợp packet-level và flow-level feature.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Dùng DT-CTS để giảm số threshold khi huấn luyện decision tree.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Mã hóa các feature thành vector bit rồi dùng ternary match để ánh xạ sang match-action table.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Triển khai mô hình phân tán: gateway dùng mô hình nhẹ, spine dùng mô hình mạnh hơn.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Khi phát hiện tấn công, switch sinh alert packet và kích hoạt pushback lên upstream switch.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428B"/>
                </a:solidFill>
                <a:latin typeface="Arial"/>
              </a:rPr>
              <a:t>5. DT-CTS là gì?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DT-CTS = Decision Tree with Constrained Threshold Segmentation.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Khác với decision tree thường: mỗi feature bị giới hạn số threshold tối đa trong quá trình xây cây.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Lợi ích: giảm node dư thừa, giảm số điều kiện so khớp, giảm độ phức tạp khi deploy lên switch.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Đây là đóng góp quan trọng vì nó tối ưu mô hình theo ràng buộc phần cứng mạng, không chỉ theo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428B"/>
                </a:solidFill>
                <a:latin typeface="Arial"/>
              </a:rPr>
              <a:t>6. Cách SISTAR triển khai trên data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Mỗi feature được chia thành các khoảng theo threshold.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Mỗi khoảng được gán một mã nhị phân ngắn.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Ghép các mã thành vector đặc trưng `bin_feature`.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Dùng ternary match để ánh xạ vector này sang class / action.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Thiết kế này giúp giảm stage, giảm table entry và phù hợp với match-action pipeline của P4 switch.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428B"/>
                </a:solidFill>
                <a:latin typeface="Arial"/>
              </a:rPr>
              <a:t>7. Cơ chế phân tán và pushback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Gateway switch phát hiện nhanh các dấu hiệu tấn công rõ ràng bằng mô hình nhẹ.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Spine switch xử lý các mẫu phức tạp hơn bằng mô hình chi tiết hơn.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Khi một switch nghi ngờ có tấn công, nó phát alert packet tới các switch khác.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Nếu mức cảnh báo vượt ngưỡng, hệ thống pushback lên upstream switch để chặn gần nguồn hơn.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Ý nghĩa: giảm tải cho nạn nhân và giảm phần băng thông độc hại đi sâu vào mạng.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428B"/>
                </a:solidFill>
                <a:latin typeface="Arial"/>
              </a:rPr>
              <a:t>8. Kết quả chính trong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DT-CTS giảm threshold khoảng 70% mà vẫn giữ accuracy cao.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Paper báo cáo chỉ cần 3 feature để đạt khoảng 98% F1.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Trên traffic DDoS thực trong topo phân tán, độ chính xác vượt 95%; với traffic mô phỏng, đạt 99.7%.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Pushback giúp giảm attack traffic bandwidth utilization tới khoảng 40%.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Độ trễ xử lý vẫn thấp, khoảng 820–920 ns, và hệ thống giữ line-rate trên Tofino.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428B"/>
                </a:solidFill>
                <a:latin typeface="Arial"/>
              </a:rPr>
              <a:t>9. Kết quả tài nguyên trong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SISTAR dùng khoảng 2.9% SRAM và 2.1% TCAM.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tMatch xBar khoảng 1.8%.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Chỉ dùng khoảng 6 stages và 7 tables.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Số table entry thấp hơn đáng kể so với nhiều framework khác ở mức accuracy tương đương.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Điểm mạnh lớn của paper là: mô hình không chỉ chính xác mà còn deployable trên switch thật.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428B"/>
                </a:solidFill>
                <a:latin typeface="Arial"/>
              </a:rPr>
              <a:t>10. Phần nào có thể hiện thực hóa trong repo này?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Repo có reproduction rút gọn của ý tưởng SISTAR trong thư mục `reproduction/`.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Có thể demo tốt 3 phần: so sánh DT/RF/DT-CTS, đo threshold-count, và mô phỏng pushback 3-hop.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Repo cũng chứa P4 code trong `SISTAR/BMv2/` và `SISTAR/tofino/`, nhưng thí nghiệm hiện tại không tái hiện đầy đủ môi trường phần cứng như paper.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Vì vậy, demo phù hợp nhất là bản reduced reproduction, không phải full hardware reproduction.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428B"/>
                </a:solidFill>
                <a:latin typeface="Arial"/>
              </a:rPr>
              <a:t>11. Cách chạy phần hiện thực hóa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Chạy 1 lệnh: `python3 /home/team/NT140.Q21.ANTN/Final/reproduction/src/run_reproduction.py`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Script sẽ tự dùng dataset CICIDS2017 Wednesday subset nếu có.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Sau khi chạy xong, kết quả nằm trong `reproduction/output/`.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Các file quan trọng: classification_metrics.csv, threshold_metrics.csv, pushback_metrics.csv, summary.md và các biểu đồ PNG.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428B"/>
                </a:solidFill>
                <a:latin typeface="Arial"/>
              </a:rPr>
              <a:t>12. Kết quả hiện thực rút gọn: độ chính xác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Kết quả chạy hiện tại trên repo dùng CICIDS2017 Wednesday subset.</a:t>
            </a:r>
          </a:p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DT: accuracy 0.9912, F1 0.9912.</a:t>
            </a:r>
          </a:p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RF: accuracy 0.9912, F1 0.9912.</a:t>
            </a:r>
          </a:p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DT-CTS: accuracy 0.9640, F1 0.9646.</a:t>
            </a:r>
          </a:p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Kết luận: trong bản tái hiện rút gọn, DT-CTS đánh đổi một phần accuracy để giảm độ phức tạp triển khai.</a:t>
            </a:r>
          </a:p>
        </p:txBody>
      </p:sp>
      <p:pic>
        <p:nvPicPr>
          <p:cNvPr id="4" name="Picture 3" descr="classification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12064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428B"/>
                </a:solidFill>
                <a:latin typeface="Arial"/>
              </a:rPr>
              <a:t>13. Kết quả hiện thực rút gọn: threshold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DT dùng 22 threshold tổng cộng.</a:t>
            </a:r>
          </a:p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DT-CTS dùng 15 threshold.</a:t>
            </a:r>
          </a:p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Giảm khoảng 31.8% so với DT trong lần chạy này.</a:t>
            </a:r>
          </a:p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Ý nghĩa: ít threshold hơn thì dễ mã hóa hơn, ít rule hơn và gần hơn với mục tiêu deploy lên switch.</a:t>
            </a:r>
          </a:p>
        </p:txBody>
      </p:sp>
      <p:pic>
        <p:nvPicPr>
          <p:cNvPr id="4" name="Picture 3" descr="threshold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4937760" cy="282157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428B"/>
                </a:solidFill>
                <a:latin typeface="Arial"/>
              </a:rPr>
              <a:t>14. Kết quả hiện thực rút gọn: pushback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No pushback: attack bytes tới victim ≈ 1,731,491.</a:t>
            </a:r>
          </a:p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Gated pushback: còn ≈ 51,302.</a:t>
            </a:r>
          </a:p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Giảm khoảng 97.0% attack bytes trong mô phỏng rút gọn.</a:t>
            </a:r>
          </a:p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Immediate pushback chặn mạnh hơn nhưng gây false block nhiều hơn.</a:t>
            </a:r>
          </a:p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Gated pushback là cải tiến nhỏ hợp lý để cân bằng bảo vệ và nhầm lẫn.</a:t>
            </a:r>
          </a:p>
        </p:txBody>
      </p:sp>
      <p:pic>
        <p:nvPicPr>
          <p:cNvPr id="4" name="Picture 3" descr="pushback_attack_by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17320"/>
            <a:ext cx="5303520" cy="29832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428B"/>
                </a:solidFill>
                <a:latin typeface="Arial"/>
              </a:rPr>
              <a:t>15. Ưu điểm và hạn chế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Ưu điểm</a:t>
            </a:r>
          </a:p>
          <a:p>
            <a:pPr lvl="1">
              <a:defRPr sz="1500">
                <a:solidFill>
                  <a:srgbClr val="282828"/>
                </a:solidFill>
                <a:latin typeface="Arial"/>
              </a:defRPr>
            </a:pPr>
            <a:r>
              <a:t>Tập trung đúng bài toán hệ thống: accuracy + deployability.</a:t>
            </a:r>
          </a:p>
          <a:p>
            <a:pPr lvl="1">
              <a:defRPr sz="1500">
                <a:solidFill>
                  <a:srgbClr val="282828"/>
                </a:solidFill>
                <a:latin typeface="Arial"/>
              </a:defRPr>
            </a:pPr>
            <a:r>
              <a:t>Tận dụng PDP để phát hiện sớm, độ trễ thấp.</a:t>
            </a:r>
          </a:p>
          <a:p>
            <a:pPr lvl="1">
              <a:defRPr sz="1500">
                <a:solidFill>
                  <a:srgbClr val="282828"/>
                </a:solidFill>
                <a:latin typeface="Arial"/>
              </a:defRPr>
            </a:pPr>
            <a:r>
              <a:t>Có cơ chế phân tán và pushback hợp lý.</a:t>
            </a:r>
          </a:p>
          <a:p>
            <a:pPr lvl="1">
              <a:defRPr sz="1500">
                <a:solidFill>
                  <a:srgbClr val="282828"/>
                </a:solidFill>
                <a:latin typeface="Arial"/>
              </a:defRPr>
            </a:pPr>
            <a:r>
              <a:t>DT-CTS gắn chặt với ràng buộc phần cứng mạng.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3444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Hạn chế</a:t>
            </a:r>
          </a:p>
          <a:p>
            <a:pPr lvl="1">
              <a:defRPr sz="1500">
                <a:solidFill>
                  <a:srgbClr val="282828"/>
                </a:solidFill>
                <a:latin typeface="Arial"/>
              </a:defRPr>
            </a:pPr>
            <a:r>
              <a:t>Chưa có threat model hình thức thật chặt.</a:t>
            </a:r>
          </a:p>
          <a:p>
            <a:pPr lvl="1">
              <a:defRPr sz="1500">
                <a:solidFill>
                  <a:srgbClr val="282828"/>
                </a:solidFill>
                <a:latin typeface="Arial"/>
              </a:defRPr>
            </a:pPr>
            <a:r>
              <a:t>Phụ thuộc mạnh vào feature, dataset và topology.</a:t>
            </a:r>
          </a:p>
          <a:p>
            <a:pPr lvl="1">
              <a:defRPr sz="1500">
                <a:solidFill>
                  <a:srgbClr val="282828"/>
                </a:solidFill>
                <a:latin typeface="Arial"/>
              </a:defRPr>
            </a:pPr>
            <a:r>
              <a:t>Gặp attack mới vẫn cần retrain.</a:t>
            </a:r>
          </a:p>
          <a:p>
            <a:pPr lvl="1">
              <a:defRPr sz="1500">
                <a:solidFill>
                  <a:srgbClr val="282828"/>
                </a:solidFill>
                <a:latin typeface="Arial"/>
              </a:defRPr>
            </a:pPr>
            <a:r>
              <a:t>Có nguy cơ alert storm, forged alert, threshold inference.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428B"/>
                </a:solidFill>
                <a:latin typeface="Arial"/>
              </a:rPr>
              <a:t>16. Mức độ phù hợp trong thực tế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Phù hợp cao nếu tổ chức có programmable switch thật hoặc lab P4/BMv2 và có quyền kiểm soát nhiều hop trong mạng.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Phù hợp trung bình nếu hạ tầng hiện tại chưa có năng lực P4/Tofino nhưng vẫn muốn nghiên cứu giải pháp in-network defense.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Ít phù hợp nếu môi trường thay đổi quá nhanh nhưng không có pipeline retraining tốt, hoặc không kiểm soát được upstream hạ tầng mạng.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Trong bối cảnh thực tế, ý tưởng này hợp với data center, enterprise network, hoặc môi trường nghiên cứu có hạ tầng mạng hiện đại.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428B"/>
                </a:solidFill>
                <a:latin typeface="Arial"/>
              </a:rPr>
              <a:t>17. Kết luận và thông điệp trình bày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SISTAR mạnh không chỉ vì phát hiện DDoS tốt, mà vì nó được thiết kế để chạy được trên switch thật.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Đóng góp cốt lõi: DT-CTS, feature encoding, và pushback phân tán.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Repo hiện tại tái hiện tốt phần lõi ý tưởng, nhưng chưa tái hiện đầy đủ thí nghiệm phần cứng của paper.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Thông điệp nên chốt khi thuyết trình: paper giải quyết bài toán cân bằng giữa độ chính xác, chi phí tài nguyên, và khả năng phòng thủ phân tán.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