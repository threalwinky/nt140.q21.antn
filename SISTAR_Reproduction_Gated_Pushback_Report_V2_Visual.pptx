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giới thiệu đồ án dựa trên paper SISTAR. Deck này tập trung vào ba phần: vấn đề DDoS, cách paper đưa phát hiện vào switch, và phần reproduction kèm cải tiến gated pushback. Cần nhấn mạnh đây là reduced reproduction, không phải triển khai production đầy đủ.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cho thầy thấy mạch trình bày. Em sẽ đi từ DDoS, sang ý tưởng SISTAR, sau đó giải thích DT-CTS và pushback. Cuối cùng là cải tiến gated pushback của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DDoS có thể hiểu như kẹt xe trước cổng server. Attacker dùng nhiều nguồn gửi traffic tới cùng lúc, làm server quá tải. Người dùng thật vẫn muốn truy cập, nhưng tài nguyên và đường truyền đã bị traffic xấu chiếm mất.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chờ đến server mới phát hiện, traffic xấu đã đi qua nhiều thiết bị trong mạng. Điều này gây tốn băng thông và vẫn đặt áp lực lên victim. SISTAR giải quyết bằng cách chuyển phát hiện xuống switch để phản ứng sớm hơn.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SISTAR gồm ba ý chính. Thứ nhất là phát hiện ngay trong switch. Thứ hai là dùng mô hình học máy nhẹ để phù hợp data plane. Thứ ba là pushback, tức là báo switch phía trước chặn nguồn attack sớm hơn.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plane giống bộ não điều khiển và cấu hình luật. Data plane giống đường cao tốc xử lý packet theo luật đã cài sẵn. SISTAR tận dụng programmable data plane để đưa phát hiện attack xuống nơi packet đang đi qua.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P4, packet đi qua parser để đọc header, sau đó hệ thống tính feature và so với bảng match-action. Kết quả action có thể là forward hoặc drop. Điều này giải thích vì sao model cây nhỏ có thể triển khai được trong switch.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 là nhóm packet có cùng hành vi hoặc cùng kết nối. Từ flow, project lấy ra các feature như protocol, kích thước packet và số packet mỗi giây. Những feature này là dấu hiệu để model phân loại benign hoặc attack.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Reproduction dùng 5 feature chính. Chúng mô tả hành vi traffic thay vì nội dung payload. Cách này phù hợp với switch vì switch xử lý header và thống kê đơn giản tốt hơn phân tích nội dung phức tạp.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so sánh Decision Tree, Random Forest và DT-CTS. DT dễ hiểu, RF mạnh nhưng nặng hơn, còn DT-CTS là mô hình quan trọng vì được thiết kế để gọn hơn. Với programmable switch, deployability quan trọng gần như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DT-CTS là Decision Tree nhưng giới hạn số threshold trên feature. Cây thường có thể tăng accuracy bằng nhiều threshold, nhưng điều đó làm model khó đưa vào switch hơn. DT-CTS giảm độ phức tạp để phù hợp với match-action 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gồm load dataset, train model, đo metric, mô phỏng pushback và tạo báo cáo. Đây là reduced reproduction, nghĩa là tái hiện các ý tưởng chính bằng môi trường Python và lab. Cách trình bày này giúp project trung thực và dễ bảo vệ hơn.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chuyển phần kết quả. Em nhấn mạnh DT-CTS không phải model có F1 cao nhất, nhưng nó gọn và rất nhanh. Phần gated pushback là cải tiến giúp giảm chặn nhầm traffic bình thường.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F1-score cho thấy Decision Tree cao nhất, RF đứng sau, DT-CTS thấp hơn một chút. Nhưng DT-CTS không được thiết kế chỉ để tối đa F1. Nó được thiết kế để phù hợp với tài nguyên hạn chế của switch.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quan trọng nhất cho câu chuyện DT-CTS. DT dùng 30 threshold, RF dùng 166 threshold, DT-CTS chỉ dùng 13. Ít threshold hơn giúp giảm chi phí tài nguyên khi chuyển logic vào switch.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Latency được đo trong reproduction Python. DT-CTS có latency trung bình khoảng 0.0012 ms, thấp hơn nhiều so với RF. Điều này phù hợp với mục tiêu xử lý nhanh trong data plane.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Pushback không chỉ drop tại switch phát hiện. Nó gửi cảnh báo về upstream switch để block source gần nguồn hơn. Nhờ vậy các hop phía sau và victim sẽ nhận ít attack traffic hơn.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Immediate pushback có lợi là chặn attack rất nhanh. Nhưng nếu model dự đoán sai, một source bình thường cũng có thể bị block. Đây là động lực của phần cải tiến gated pushback trong project.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Gated pushback giống cơ chế xác nhận hai bước. Lần đầu nghi ngờ malicious thì chỉ ghi nhận, chưa block. Nếu lần tiếp theo liên tiếp vẫn malicious thì mới block upstream. Cách này giảm rủi ro chặn nhầm benign traffic.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pushback là baseline nên attack tới victim nhiều nhất. Immediate pushback giảm attack mạnh nhất nhưng false block cao. Gated pushback để lọt thêm một ít attack ban đầu, nhưng false block giảm từ 21 xuống 2 và benign traffic được giữ tốt hơn.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còn có BMv2/P4 lab để minh họa hướng programmable data plane. Topology gồm host benign, host attack lab, các switch BMv2 và victim. Đây là lab thử nghiệm chứ không phải production network thật.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Multi-dataset validation cho thấy DT-CTS hoạt động ổn trên nhiều biến thể attack. Tuy nhiên cần nói rõ các dataset ngoài CICIDS2017 trong project là synthetic variants. Vì vậy slide này dùng để bổ sung góc nhìn tổng quát hóa, không nên nói là benchmark thực đầy đủ trên tất cả dataset thật.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giới hạn rất quan trọng khi báo cáo. Project là reduced reproduction, pushback là mô phỏng flow-level và BMv2 là lab. Nhưng project vẫn có giá trị vì tái hiện được ý chính của paper và thêm cải tiến gated pushback.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luận lại, SISTAR đưa phát hiện DDoS vào switch để phản ứng sớm. DT-CTS giúp model gọn và nhanh hơn, phù hợp với data plane. Gated pushback là cải tiến của project để giảm chặn nhầm benign traffic. Sau đó em chuyển sang phần hỏi đáp.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14B8C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0B1F3A"/>
                </a:solidFill>
                <a:latin typeface="Aptos Display"/>
              </a:defRPr>
            </a:pPr>
            <a:r>
              <a:t>ĐỒ ÁN</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FFFFFF"/>
                </a:solidFill>
                <a:latin typeface="Aptos Display"/>
              </a:defRPr>
            </a:pPr>
            <a:r>
              <a:t>SISTAR Reproduction</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D6E6F0"/>
                </a:solidFill>
                <a:latin typeface="Aptos"/>
              </a:defRPr>
            </a:pPr>
            <a:r>
              <a:t>DDoS detection trong programmable switch + cải tiến Gated Pushback</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D6E6F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D6E6F0"/>
                </a:solidFill>
                <a:latin typeface="Aptos"/>
              </a:defRPr>
            </a:pPr>
            <a:r>
              <a:t>01</a:t>
            </a:r>
          </a:p>
        </p:txBody>
      </p:sp>
      <p:sp>
        <p:nvSpPr>
          <p:cNvPr id="8" name="TextBox 7"/>
          <p:cNvSpPr txBox="1"/>
          <p:nvPr/>
        </p:nvSpPr>
        <p:spPr>
          <a:xfrm>
            <a:off x="658368" y="1737360"/>
            <a:ext cx="3657600" cy="320040"/>
          </a:xfrm>
          <a:prstGeom prst="rect">
            <a:avLst/>
          </a:prstGeom>
          <a:noFill/>
        </p:spPr>
        <p:txBody>
          <a:bodyPr wrap="square">
            <a:spAutoFit/>
          </a:bodyPr>
          <a:lstStyle/>
          <a:p>
            <a:pPr algn="l">
              <a:defRPr sz="1600" b="1">
                <a:solidFill>
                  <a:srgbClr val="5BE3F0"/>
                </a:solidFill>
                <a:latin typeface="Aptos"/>
              </a:defRPr>
            </a:pPr>
            <a:r>
              <a:t>Visual report deck</a:t>
            </a:r>
          </a:p>
        </p:txBody>
      </p:sp>
      <p:sp>
        <p:nvSpPr>
          <p:cNvPr id="9" name="TextBox 8"/>
          <p:cNvSpPr txBox="1"/>
          <p:nvPr/>
        </p:nvSpPr>
        <p:spPr>
          <a:xfrm>
            <a:off x="658368" y="2148840"/>
            <a:ext cx="5212080" cy="731520"/>
          </a:xfrm>
          <a:prstGeom prst="rect">
            <a:avLst/>
          </a:prstGeom>
          <a:noFill/>
        </p:spPr>
        <p:txBody>
          <a:bodyPr wrap="square">
            <a:spAutoFit/>
          </a:bodyPr>
          <a:lstStyle/>
          <a:p>
            <a:pPr algn="l">
              <a:defRPr sz="2000" b="1">
                <a:solidFill>
                  <a:srgbClr val="FFFFFF"/>
                </a:solidFill>
                <a:latin typeface="Aptos Display"/>
              </a:defRPr>
            </a:pPr>
            <a:r>
              <a:t>Tái hiện ý tưởng chính của paper SISTAR và đề xuất cơ chế gated pushback để giảm chặn nhầm benign traffic.</a:t>
            </a:r>
          </a:p>
        </p:txBody>
      </p:sp>
      <p:sp>
        <p:nvSpPr>
          <p:cNvPr id="10" name="Rounded Rectangle 9"/>
          <p:cNvSpPr/>
          <p:nvPr/>
        </p:nvSpPr>
        <p:spPr>
          <a:xfrm>
            <a:off x="6446520" y="1371600"/>
            <a:ext cx="1463040" cy="731520"/>
          </a:xfrm>
          <a:prstGeom prst="roundRect">
            <a:avLst/>
          </a:prstGeom>
          <a:solidFill>
            <a:srgbClr val="3A1822"/>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F5A5F"/>
                </a:solidFill>
                <a:latin typeface="Aptos Display"/>
              </a:defRPr>
            </a:pPr>
            <a:r>
              <a:t>ATTACK</a:t>
            </a:r>
          </a:p>
          <a:p>
            <a:pPr algn="ctr">
              <a:spcBef>
                <a:spcPts val="500"/>
              </a:spcBef>
              <a:defRPr sz="1000">
                <a:solidFill>
                  <a:srgbClr val="FFFFFF"/>
                </a:solidFill>
                <a:latin typeface="Aptos"/>
              </a:defRPr>
            </a:pPr>
            <a:r>
              <a:t>traffic xấu</a:t>
            </a:r>
          </a:p>
        </p:txBody>
      </p:sp>
      <p:sp>
        <p:nvSpPr>
          <p:cNvPr id="11" name="Rounded Rectangle 10"/>
          <p:cNvSpPr/>
          <p:nvPr/>
        </p:nvSpPr>
        <p:spPr>
          <a:xfrm>
            <a:off x="6446520" y="3520440"/>
            <a:ext cx="1463040" cy="731520"/>
          </a:xfrm>
          <a:prstGeom prst="roundRect">
            <a:avLst/>
          </a:prstGeom>
          <a:solidFill>
            <a:srgbClr val="17392A"/>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7CF2C2"/>
                </a:solidFill>
                <a:latin typeface="Aptos Display"/>
              </a:defRPr>
            </a:pPr>
            <a:r>
              <a:t>BENIGN</a:t>
            </a:r>
          </a:p>
          <a:p>
            <a:pPr algn="ctr">
              <a:spcBef>
                <a:spcPts val="500"/>
              </a:spcBef>
              <a:defRPr sz="1000">
                <a:solidFill>
                  <a:srgbClr val="FFFFFF"/>
                </a:solidFill>
                <a:latin typeface="Aptos"/>
              </a:defRPr>
            </a:pPr>
            <a:r>
              <a:t>traffic thật</a:t>
            </a:r>
          </a:p>
        </p:txBody>
      </p:sp>
      <p:sp>
        <p:nvSpPr>
          <p:cNvPr id="12" name="Rounded Rectangle 11"/>
          <p:cNvSpPr/>
          <p:nvPr/>
        </p:nvSpPr>
        <p:spPr>
          <a:xfrm>
            <a:off x="8915400" y="2331720"/>
            <a:ext cx="1645920" cy="914400"/>
          </a:xfrm>
          <a:prstGeom prst="roundRect">
            <a:avLst/>
          </a:prstGeom>
          <a:solidFill>
            <a:srgbClr val="103A5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5BE3F0"/>
                </a:solidFill>
                <a:latin typeface="Aptos Display"/>
              </a:defRPr>
            </a:pPr>
            <a:r>
              <a:t>SISTAR</a:t>
            </a:r>
          </a:p>
          <a:p>
            <a:pPr algn="ctr">
              <a:spcBef>
                <a:spcPts val="500"/>
              </a:spcBef>
              <a:defRPr sz="1200">
                <a:solidFill>
                  <a:srgbClr val="FFFFFF"/>
                </a:solidFill>
                <a:latin typeface="Aptos"/>
              </a:defRPr>
            </a:pPr>
            <a:r>
              <a:t>switch</a:t>
            </a:r>
          </a:p>
        </p:txBody>
      </p:sp>
      <p:sp>
        <p:nvSpPr>
          <p:cNvPr id="13" name="Rounded Rectangle 12"/>
          <p:cNvSpPr/>
          <p:nvPr/>
        </p:nvSpPr>
        <p:spPr>
          <a:xfrm>
            <a:off x="10972800" y="2331720"/>
            <a:ext cx="868680" cy="914400"/>
          </a:xfrm>
          <a:prstGeom prst="roundRect">
            <a:avLst/>
          </a:prstGeom>
          <a:solidFill>
            <a:srgbClr val="162D4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100" b="1">
                <a:solidFill>
                  <a:srgbClr val="FFFFFF"/>
                </a:solidFill>
                <a:latin typeface="Aptos Display"/>
              </a:defRPr>
            </a:pPr>
            <a:r>
              <a:t>VICTIM</a:t>
            </a:r>
          </a:p>
        </p:txBody>
      </p:sp>
      <p:cxnSp>
        <p:nvCxnSpPr>
          <p:cNvPr id="14" name="Connector 13"/>
          <p:cNvCxnSpPr/>
          <p:nvPr/>
        </p:nvCxnSpPr>
        <p:spPr>
          <a:xfrm>
            <a:off x="7909560" y="1737360"/>
            <a:ext cx="1005840" cy="877824"/>
          </a:xfrm>
          <a:prstGeom prst="line">
            <a:avLst/>
          </a:prstGeom>
          <a:ln w="35560">
            <a:solidFill>
              <a:srgbClr val="FF5A5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909560" y="2898648"/>
            <a:ext cx="1005840" cy="987552"/>
          </a:xfrm>
          <a:prstGeom prst="line">
            <a:avLst/>
          </a:prstGeom>
          <a:ln w="35560">
            <a:solidFill>
              <a:srgbClr val="4CAF5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561320" y="2788920"/>
            <a:ext cx="411480" cy="0"/>
          </a:xfrm>
          <a:prstGeom prst="line">
            <a:avLst/>
          </a:prstGeom>
          <a:ln w="35560">
            <a:solidFill>
              <a:srgbClr val="5BE3F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85800" y="4251960"/>
            <a:ext cx="2103120" cy="777240"/>
          </a:xfrm>
          <a:prstGeom prst="roundRect">
            <a:avLst/>
          </a:prstGeom>
          <a:solidFill>
            <a:srgbClr val="132B49"/>
          </a:solidFill>
          <a:ln w="12700">
            <a:solidFill>
              <a:srgbClr val="345A80"/>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5BE3F0"/>
                </a:solidFill>
                <a:latin typeface="Aptos Display"/>
              </a:defRPr>
            </a:pPr>
            <a:r>
              <a:t>0.0012 ms</a:t>
            </a:r>
          </a:p>
          <a:p>
            <a:pPr>
              <a:defRPr sz="1050">
                <a:solidFill>
                  <a:srgbClr val="FFFFFF"/>
                </a:solidFill>
                <a:latin typeface="Aptos"/>
              </a:defRPr>
            </a:pPr>
            <a:r>
              <a:t>DT-CTS latency</a:t>
            </a:r>
          </a:p>
        </p:txBody>
      </p:sp>
      <p:sp>
        <p:nvSpPr>
          <p:cNvPr id="18" name="Rectangle 17"/>
          <p:cNvSpPr/>
          <p:nvPr/>
        </p:nvSpPr>
        <p:spPr>
          <a:xfrm>
            <a:off x="685800" y="4251960"/>
            <a:ext cx="73152" cy="777240"/>
          </a:xfrm>
          <a:prstGeom prst="rect">
            <a:avLst/>
          </a:prstGeom>
          <a:solidFill>
            <a:srgbClr val="5BE3F0"/>
          </a:solidFill>
          <a:ln>
            <a:solidFill>
              <a:srgbClr val="5B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017520" y="4251960"/>
            <a:ext cx="2103120" cy="777240"/>
          </a:xfrm>
          <a:prstGeom prst="roundRect">
            <a:avLst/>
          </a:prstGeom>
          <a:solidFill>
            <a:srgbClr val="132B49"/>
          </a:solidFill>
          <a:ln w="12700">
            <a:solidFill>
              <a:srgbClr val="345A80"/>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13</a:t>
            </a:r>
          </a:p>
          <a:p>
            <a:pPr>
              <a:defRPr sz="1050">
                <a:solidFill>
                  <a:srgbClr val="FFFFFF"/>
                </a:solidFill>
                <a:latin typeface="Aptos"/>
              </a:defRPr>
            </a:pPr>
            <a:r>
              <a:t>thresholds</a:t>
            </a:r>
          </a:p>
        </p:txBody>
      </p:sp>
      <p:sp>
        <p:nvSpPr>
          <p:cNvPr id="20" name="Rectangle 19"/>
          <p:cNvSpPr/>
          <p:nvPr/>
        </p:nvSpPr>
        <p:spPr>
          <a:xfrm>
            <a:off x="3017520" y="4251960"/>
            <a:ext cx="73152" cy="777240"/>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49240" y="4251960"/>
            <a:ext cx="2103120" cy="777240"/>
          </a:xfrm>
          <a:prstGeom prst="roundRect">
            <a:avLst/>
          </a:prstGeom>
          <a:solidFill>
            <a:srgbClr val="132B49"/>
          </a:solidFill>
          <a:ln w="12700">
            <a:solidFill>
              <a:srgbClr val="345A80"/>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2</a:t>
            </a:r>
          </a:p>
          <a:p>
            <a:pPr>
              <a:defRPr sz="1050">
                <a:solidFill>
                  <a:srgbClr val="FFFFFF"/>
                </a:solidFill>
                <a:latin typeface="Aptos"/>
              </a:defRPr>
            </a:pPr>
            <a:r>
              <a:t>false blocks gated</a:t>
            </a:r>
          </a:p>
        </p:txBody>
      </p:sp>
      <p:sp>
        <p:nvSpPr>
          <p:cNvPr id="22" name="Rectangle 21"/>
          <p:cNvSpPr/>
          <p:nvPr/>
        </p:nvSpPr>
        <p:spPr>
          <a:xfrm>
            <a:off x="5349240" y="4251960"/>
            <a:ext cx="73152" cy="777240"/>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ROADMAP</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Câu chuyện của đồ án</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Từ vấn đề thực tế đến cải tiến trong project</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02</a:t>
            </a:r>
          </a:p>
        </p:txBody>
      </p:sp>
      <p:sp>
        <p:nvSpPr>
          <p:cNvPr id="8" name="Rounded Rectangle 7"/>
          <p:cNvSpPr/>
          <p:nvPr/>
        </p:nvSpPr>
        <p:spPr>
          <a:xfrm>
            <a:off x="731520" y="1874519"/>
            <a:ext cx="1719072" cy="150876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DDoS</a:t>
            </a:r>
          </a:p>
          <a:p>
            <a:pPr algn="ctr">
              <a:spcBef>
                <a:spcPts val="500"/>
              </a:spcBef>
              <a:defRPr sz="1200">
                <a:solidFill>
                  <a:srgbClr val="2C3E50"/>
                </a:solidFill>
                <a:latin typeface="Aptos"/>
              </a:defRPr>
            </a:pPr>
            <a:r>
              <a:t>Nhiều nguồn làm nghẽn server</a:t>
            </a:r>
          </a:p>
        </p:txBody>
      </p:sp>
      <p:sp>
        <p:nvSpPr>
          <p:cNvPr id="9" name="Oval 8"/>
          <p:cNvSpPr/>
          <p:nvPr/>
        </p:nvSpPr>
        <p:spPr>
          <a:xfrm>
            <a:off x="1353312" y="1481328"/>
            <a:ext cx="438912" cy="438912"/>
          </a:xfrm>
          <a:prstGeom prst="ellipse">
            <a:avLst/>
          </a:prstGeom>
          <a:solidFill>
            <a:srgbClr val="00BC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3312" y="1554480"/>
            <a:ext cx="438912" cy="182880"/>
          </a:xfrm>
          <a:prstGeom prst="rect">
            <a:avLst/>
          </a:prstGeom>
          <a:noFill/>
        </p:spPr>
        <p:txBody>
          <a:bodyPr wrap="square">
            <a:spAutoFit/>
          </a:bodyPr>
          <a:lstStyle/>
          <a:p>
            <a:pPr algn="ctr">
              <a:defRPr sz="1100" b="1">
                <a:solidFill>
                  <a:srgbClr val="FFFFFF"/>
                </a:solidFill>
                <a:latin typeface="Aptos"/>
              </a:defRPr>
            </a:pPr>
            <a:r>
              <a:t>1</a:t>
            </a:r>
          </a:p>
        </p:txBody>
      </p:sp>
      <p:cxnSp>
        <p:nvCxnSpPr>
          <p:cNvPr id="11" name="Connector 10"/>
          <p:cNvCxnSpPr/>
          <p:nvPr/>
        </p:nvCxnSpPr>
        <p:spPr>
          <a:xfrm>
            <a:off x="2450591" y="2606040"/>
            <a:ext cx="457200" cy="0"/>
          </a:xfrm>
          <a:prstGeom prst="line">
            <a:avLst/>
          </a:prstGeom>
          <a:ln w="22860">
            <a:solidFill>
              <a:srgbClr val="00BCD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99232" y="1874519"/>
            <a:ext cx="1719072" cy="150876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SISTAR</a:t>
            </a:r>
          </a:p>
          <a:p>
            <a:pPr algn="ctr">
              <a:spcBef>
                <a:spcPts val="500"/>
              </a:spcBef>
              <a:defRPr sz="1200">
                <a:solidFill>
                  <a:srgbClr val="2C3E50"/>
                </a:solidFill>
                <a:latin typeface="Aptos"/>
              </a:defRPr>
            </a:pPr>
            <a:r>
              <a:t>Detect ngay trong switch</a:t>
            </a:r>
          </a:p>
        </p:txBody>
      </p:sp>
      <p:sp>
        <p:nvSpPr>
          <p:cNvPr id="13" name="Oval 12"/>
          <p:cNvSpPr/>
          <p:nvPr/>
        </p:nvSpPr>
        <p:spPr>
          <a:xfrm>
            <a:off x="3621024" y="1481328"/>
            <a:ext cx="438912" cy="438912"/>
          </a:xfrm>
          <a:prstGeom prst="ellipse">
            <a:avLst/>
          </a:prstGeom>
          <a:solidFill>
            <a:srgbClr val="00BC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1024" y="1554480"/>
            <a:ext cx="438912" cy="182880"/>
          </a:xfrm>
          <a:prstGeom prst="rect">
            <a:avLst/>
          </a:prstGeom>
          <a:noFill/>
        </p:spPr>
        <p:txBody>
          <a:bodyPr wrap="square">
            <a:spAutoFit/>
          </a:bodyPr>
          <a:lstStyle/>
          <a:p>
            <a:pPr algn="ctr">
              <a:defRPr sz="1100" b="1">
                <a:solidFill>
                  <a:srgbClr val="FFFFFF"/>
                </a:solidFill>
                <a:latin typeface="Aptos"/>
              </a:defRPr>
            </a:pPr>
            <a:r>
              <a:t>2</a:t>
            </a:r>
          </a:p>
        </p:txBody>
      </p:sp>
      <p:cxnSp>
        <p:nvCxnSpPr>
          <p:cNvPr id="15" name="Connector 14"/>
          <p:cNvCxnSpPr/>
          <p:nvPr/>
        </p:nvCxnSpPr>
        <p:spPr>
          <a:xfrm>
            <a:off x="4718304" y="2606040"/>
            <a:ext cx="457200" cy="0"/>
          </a:xfrm>
          <a:prstGeom prst="line">
            <a:avLst/>
          </a:prstGeom>
          <a:ln w="22860">
            <a:solidFill>
              <a:srgbClr val="00BCD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266944" y="1874519"/>
            <a:ext cx="1719072" cy="150876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DT-CTS</a:t>
            </a:r>
          </a:p>
          <a:p>
            <a:pPr algn="ctr">
              <a:spcBef>
                <a:spcPts val="500"/>
              </a:spcBef>
              <a:defRPr sz="1200">
                <a:solidFill>
                  <a:srgbClr val="2C3E50"/>
                </a:solidFill>
                <a:latin typeface="Aptos"/>
              </a:defRPr>
            </a:pPr>
            <a:r>
              <a:t>Model cây nhỏ/gọn hơn</a:t>
            </a:r>
          </a:p>
        </p:txBody>
      </p:sp>
      <p:sp>
        <p:nvSpPr>
          <p:cNvPr id="17" name="Oval 16"/>
          <p:cNvSpPr/>
          <p:nvPr/>
        </p:nvSpPr>
        <p:spPr>
          <a:xfrm>
            <a:off x="5888736" y="1481328"/>
            <a:ext cx="438912" cy="438912"/>
          </a:xfrm>
          <a:prstGeom prst="ellipse">
            <a:avLst/>
          </a:prstGeom>
          <a:solidFill>
            <a:srgbClr val="00BC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88736" y="1554480"/>
            <a:ext cx="438912" cy="182880"/>
          </a:xfrm>
          <a:prstGeom prst="rect">
            <a:avLst/>
          </a:prstGeom>
          <a:noFill/>
        </p:spPr>
        <p:txBody>
          <a:bodyPr wrap="square">
            <a:spAutoFit/>
          </a:bodyPr>
          <a:lstStyle/>
          <a:p>
            <a:pPr algn="ctr">
              <a:defRPr sz="1100" b="1">
                <a:solidFill>
                  <a:srgbClr val="FFFFFF"/>
                </a:solidFill>
                <a:latin typeface="Aptos"/>
              </a:defRPr>
            </a:pPr>
            <a:r>
              <a:t>3</a:t>
            </a:r>
          </a:p>
        </p:txBody>
      </p:sp>
      <p:cxnSp>
        <p:nvCxnSpPr>
          <p:cNvPr id="19" name="Connector 18"/>
          <p:cNvCxnSpPr/>
          <p:nvPr/>
        </p:nvCxnSpPr>
        <p:spPr>
          <a:xfrm>
            <a:off x="6986016" y="2606040"/>
            <a:ext cx="457200" cy="0"/>
          </a:xfrm>
          <a:prstGeom prst="line">
            <a:avLst/>
          </a:prstGeom>
          <a:ln w="22860">
            <a:solidFill>
              <a:srgbClr val="4CAF5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534656" y="1874519"/>
            <a:ext cx="1719072" cy="150876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Pushback</a:t>
            </a:r>
          </a:p>
          <a:p>
            <a:pPr algn="ctr">
              <a:spcBef>
                <a:spcPts val="500"/>
              </a:spcBef>
              <a:defRPr sz="1200">
                <a:solidFill>
                  <a:srgbClr val="2C3E50"/>
                </a:solidFill>
                <a:latin typeface="Aptos"/>
              </a:defRPr>
            </a:pPr>
            <a:r>
              <a:t>Chặn gần nguồn attack</a:t>
            </a:r>
          </a:p>
        </p:txBody>
      </p:sp>
      <p:sp>
        <p:nvSpPr>
          <p:cNvPr id="21" name="Oval 20"/>
          <p:cNvSpPr/>
          <p:nvPr/>
        </p:nvSpPr>
        <p:spPr>
          <a:xfrm>
            <a:off x="8156448" y="1481328"/>
            <a:ext cx="438912" cy="438912"/>
          </a:xfrm>
          <a:prstGeom prst="ellipse">
            <a:avLst/>
          </a:prstGeom>
          <a:solidFill>
            <a:srgbClr val="4CAF5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56448" y="1554480"/>
            <a:ext cx="438912" cy="182880"/>
          </a:xfrm>
          <a:prstGeom prst="rect">
            <a:avLst/>
          </a:prstGeom>
          <a:noFill/>
        </p:spPr>
        <p:txBody>
          <a:bodyPr wrap="square">
            <a:spAutoFit/>
          </a:bodyPr>
          <a:lstStyle/>
          <a:p>
            <a:pPr algn="ctr">
              <a:defRPr sz="1100" b="1">
                <a:solidFill>
                  <a:srgbClr val="FFFFFF"/>
                </a:solidFill>
                <a:latin typeface="Aptos"/>
              </a:defRPr>
            </a:pPr>
            <a:r>
              <a:t>4</a:t>
            </a:r>
          </a:p>
        </p:txBody>
      </p:sp>
      <p:cxnSp>
        <p:nvCxnSpPr>
          <p:cNvPr id="23" name="Connector 22"/>
          <p:cNvCxnSpPr/>
          <p:nvPr/>
        </p:nvCxnSpPr>
        <p:spPr>
          <a:xfrm>
            <a:off x="9253728" y="2606040"/>
            <a:ext cx="457200" cy="0"/>
          </a:xfrm>
          <a:prstGeom prst="line">
            <a:avLst/>
          </a:prstGeom>
          <a:ln w="22860">
            <a:solidFill>
              <a:srgbClr val="4CAF5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02368" y="1874519"/>
            <a:ext cx="1719072" cy="150876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Gated</a:t>
            </a:r>
          </a:p>
          <a:p>
            <a:pPr algn="ctr">
              <a:spcBef>
                <a:spcPts val="500"/>
              </a:spcBef>
              <a:defRPr sz="1200">
                <a:solidFill>
                  <a:srgbClr val="2C3E50"/>
                </a:solidFill>
                <a:latin typeface="Aptos"/>
              </a:defRPr>
            </a:pPr>
            <a:r>
              <a:t>Giảm chặn nhầm benign</a:t>
            </a:r>
          </a:p>
        </p:txBody>
      </p:sp>
      <p:sp>
        <p:nvSpPr>
          <p:cNvPr id="25" name="Oval 24"/>
          <p:cNvSpPr/>
          <p:nvPr/>
        </p:nvSpPr>
        <p:spPr>
          <a:xfrm>
            <a:off x="10424160" y="1481328"/>
            <a:ext cx="438912" cy="438912"/>
          </a:xfrm>
          <a:prstGeom prst="ellipse">
            <a:avLst/>
          </a:prstGeom>
          <a:solidFill>
            <a:srgbClr val="4CAF5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0" y="1554480"/>
            <a:ext cx="438912" cy="182880"/>
          </a:xfrm>
          <a:prstGeom prst="rect">
            <a:avLst/>
          </a:prstGeom>
          <a:noFill/>
        </p:spPr>
        <p:txBody>
          <a:bodyPr wrap="square">
            <a:spAutoFit/>
          </a:bodyPr>
          <a:lstStyle/>
          <a:p>
            <a:pPr algn="ctr">
              <a:defRPr sz="1100" b="1">
                <a:solidFill>
                  <a:srgbClr val="FFFFFF"/>
                </a:solidFill>
                <a:latin typeface="Aptos"/>
              </a:defRPr>
            </a:pPr>
            <a:r>
              <a:t>5</a:t>
            </a:r>
          </a:p>
        </p:txBody>
      </p:sp>
      <p:sp>
        <p:nvSpPr>
          <p:cNvPr id="27" name="TextBox 26"/>
          <p:cNvSpPr txBox="1"/>
          <p:nvPr/>
        </p:nvSpPr>
        <p:spPr>
          <a:xfrm>
            <a:off x="1143000" y="4434840"/>
            <a:ext cx="9875520" cy="384048"/>
          </a:xfrm>
          <a:prstGeom prst="rect">
            <a:avLst/>
          </a:prstGeom>
          <a:noFill/>
        </p:spPr>
        <p:txBody>
          <a:bodyPr wrap="square">
            <a:spAutoFit/>
          </a:bodyPr>
          <a:lstStyle/>
          <a:p>
            <a:pPr algn="ctr">
              <a:defRPr sz="2200" b="1">
                <a:solidFill>
                  <a:srgbClr val="0B1F3A"/>
                </a:solidFill>
                <a:latin typeface="Aptos"/>
              </a:defRPr>
            </a:pPr>
            <a:r>
              <a:t>Mỗi slide sau chỉ trả lời một câu hỏi nhỏ để người không chuyên vẫn theo được.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VẤN ĐỀ</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DDoS là gì?</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Ẩn dụ: kẹt xe trước cổng server</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03</a:t>
            </a:r>
          </a:p>
        </p:txBody>
      </p:sp>
      <p:sp>
        <p:nvSpPr>
          <p:cNvPr id="8" name="Rounded Rectangle 7"/>
          <p:cNvSpPr/>
          <p:nvPr/>
        </p:nvSpPr>
        <p:spPr>
          <a:xfrm>
            <a:off x="8732520" y="2011680"/>
            <a:ext cx="1920240" cy="1143000"/>
          </a:xfrm>
          <a:prstGeom prst="roundRect">
            <a:avLst/>
          </a:prstGeom>
          <a:solidFill>
            <a:srgbClr val="FFEEEE"/>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F5A5F"/>
                </a:solidFill>
                <a:latin typeface="Aptos Display"/>
              </a:defRPr>
            </a:pPr>
            <a:r>
              <a:t>SERVER</a:t>
            </a:r>
          </a:p>
          <a:p>
            <a:pPr algn="ctr">
              <a:spcBef>
                <a:spcPts val="500"/>
              </a:spcBef>
              <a:defRPr sz="1500">
                <a:solidFill>
                  <a:srgbClr val="2C3E50"/>
                </a:solidFill>
                <a:latin typeface="Aptos"/>
              </a:defRPr>
            </a:pPr>
            <a:r>
              <a:t>quá tải</a:t>
            </a:r>
          </a:p>
        </p:txBody>
      </p:sp>
      <p:sp>
        <p:nvSpPr>
          <p:cNvPr id="9" name="Rounded Rectangle 8"/>
          <p:cNvSpPr/>
          <p:nvPr/>
        </p:nvSpPr>
        <p:spPr>
          <a:xfrm>
            <a:off x="914400" y="1508760"/>
            <a:ext cx="1097280" cy="320040"/>
          </a:xfrm>
          <a:prstGeom prst="roundRect">
            <a:avLst/>
          </a:prstGeom>
          <a:solidFill>
            <a:srgbClr val="FFF3F3"/>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00" b="1">
                <a:solidFill>
                  <a:srgbClr val="FF5A5F"/>
                </a:solidFill>
                <a:latin typeface="Aptos Display"/>
              </a:defRPr>
            </a:pPr>
            <a:r>
              <a:t>bot 1</a:t>
            </a:r>
          </a:p>
        </p:txBody>
      </p:sp>
      <p:cxnSp>
        <p:nvCxnSpPr>
          <p:cNvPr id="10" name="Connector 9"/>
          <p:cNvCxnSpPr/>
          <p:nvPr/>
        </p:nvCxnSpPr>
        <p:spPr>
          <a:xfrm>
            <a:off x="2011680" y="1664207"/>
            <a:ext cx="6720840" cy="914401"/>
          </a:xfrm>
          <a:prstGeom prst="line">
            <a:avLst/>
          </a:prstGeom>
          <a:ln w="17780">
            <a:solidFill>
              <a:srgbClr val="FF5A5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14400" y="2011680"/>
            <a:ext cx="1097280" cy="320040"/>
          </a:xfrm>
          <a:prstGeom prst="roundRect">
            <a:avLst/>
          </a:prstGeom>
          <a:solidFill>
            <a:srgbClr val="FFF3F3"/>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00" b="1">
                <a:solidFill>
                  <a:srgbClr val="FF5A5F"/>
                </a:solidFill>
                <a:latin typeface="Aptos Display"/>
              </a:defRPr>
            </a:pPr>
            <a:r>
              <a:t>bot 2</a:t>
            </a:r>
          </a:p>
        </p:txBody>
      </p:sp>
      <p:cxnSp>
        <p:nvCxnSpPr>
          <p:cNvPr id="12" name="Connector 11"/>
          <p:cNvCxnSpPr/>
          <p:nvPr/>
        </p:nvCxnSpPr>
        <p:spPr>
          <a:xfrm>
            <a:off x="2011680" y="2167128"/>
            <a:ext cx="6720840" cy="411480"/>
          </a:xfrm>
          <a:prstGeom prst="line">
            <a:avLst/>
          </a:prstGeom>
          <a:ln w="17780">
            <a:solidFill>
              <a:srgbClr val="FF5A5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2514600"/>
            <a:ext cx="1097280" cy="320040"/>
          </a:xfrm>
          <a:prstGeom prst="roundRect">
            <a:avLst/>
          </a:prstGeom>
          <a:solidFill>
            <a:srgbClr val="FFF3F3"/>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00" b="1">
                <a:solidFill>
                  <a:srgbClr val="FF5A5F"/>
                </a:solidFill>
                <a:latin typeface="Aptos Display"/>
              </a:defRPr>
            </a:pPr>
            <a:r>
              <a:t>bot 3</a:t>
            </a:r>
          </a:p>
        </p:txBody>
      </p:sp>
      <p:cxnSp>
        <p:nvCxnSpPr>
          <p:cNvPr id="14" name="Connector 13"/>
          <p:cNvCxnSpPr/>
          <p:nvPr/>
        </p:nvCxnSpPr>
        <p:spPr>
          <a:xfrm flipV="1">
            <a:off x="2011680" y="2578608"/>
            <a:ext cx="6720840" cy="91440"/>
          </a:xfrm>
          <a:prstGeom prst="line">
            <a:avLst/>
          </a:prstGeom>
          <a:ln w="17780">
            <a:solidFill>
              <a:srgbClr val="FF5A5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14400" y="3017520"/>
            <a:ext cx="1097280" cy="320040"/>
          </a:xfrm>
          <a:prstGeom prst="roundRect">
            <a:avLst/>
          </a:prstGeom>
          <a:solidFill>
            <a:srgbClr val="FFF3F3"/>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00" b="1">
                <a:solidFill>
                  <a:srgbClr val="FF5A5F"/>
                </a:solidFill>
                <a:latin typeface="Aptos Display"/>
              </a:defRPr>
            </a:pPr>
            <a:r>
              <a:t>bot 4</a:t>
            </a:r>
          </a:p>
        </p:txBody>
      </p:sp>
      <p:cxnSp>
        <p:nvCxnSpPr>
          <p:cNvPr id="16" name="Connector 15"/>
          <p:cNvCxnSpPr/>
          <p:nvPr/>
        </p:nvCxnSpPr>
        <p:spPr>
          <a:xfrm flipV="1">
            <a:off x="2011680" y="2578608"/>
            <a:ext cx="6720840" cy="594360"/>
          </a:xfrm>
          <a:prstGeom prst="line">
            <a:avLst/>
          </a:prstGeom>
          <a:ln w="17780">
            <a:solidFill>
              <a:srgbClr val="FF5A5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14400" y="3520440"/>
            <a:ext cx="1097280" cy="320040"/>
          </a:xfrm>
          <a:prstGeom prst="roundRect">
            <a:avLst/>
          </a:prstGeom>
          <a:solidFill>
            <a:srgbClr val="FFF3F3"/>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00" b="1">
                <a:solidFill>
                  <a:srgbClr val="FF5A5F"/>
                </a:solidFill>
                <a:latin typeface="Aptos Display"/>
              </a:defRPr>
            </a:pPr>
            <a:r>
              <a:t>bot 5</a:t>
            </a:r>
          </a:p>
        </p:txBody>
      </p:sp>
      <p:cxnSp>
        <p:nvCxnSpPr>
          <p:cNvPr id="18" name="Connector 17"/>
          <p:cNvCxnSpPr/>
          <p:nvPr/>
        </p:nvCxnSpPr>
        <p:spPr>
          <a:xfrm flipV="1">
            <a:off x="2011680" y="2578608"/>
            <a:ext cx="6720840" cy="1097280"/>
          </a:xfrm>
          <a:prstGeom prst="line">
            <a:avLst/>
          </a:prstGeom>
          <a:ln w="17780">
            <a:solidFill>
              <a:srgbClr val="FF5A5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4400" y="4572000"/>
            <a:ext cx="1325880" cy="457200"/>
          </a:xfrm>
          <a:prstGeom prst="roundRect">
            <a:avLst/>
          </a:prstGeom>
          <a:solidFill>
            <a:srgbClr val="ECF8E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000" b="1">
                <a:solidFill>
                  <a:srgbClr val="4CAF50"/>
                </a:solidFill>
                <a:latin typeface="Aptos Display"/>
              </a:defRPr>
            </a:pPr>
            <a:r>
              <a:t>user thật</a:t>
            </a:r>
          </a:p>
        </p:txBody>
      </p:sp>
      <p:cxnSp>
        <p:nvCxnSpPr>
          <p:cNvPr id="20" name="Connector 19"/>
          <p:cNvCxnSpPr/>
          <p:nvPr/>
        </p:nvCxnSpPr>
        <p:spPr>
          <a:xfrm flipV="1">
            <a:off x="2240280" y="2907792"/>
            <a:ext cx="6492240" cy="1892808"/>
          </a:xfrm>
          <a:prstGeom prst="line">
            <a:avLst/>
          </a:prstGeom>
          <a:ln w="17780">
            <a:solidFill>
              <a:srgbClr val="4CAF5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72000" y="4160520"/>
            <a:ext cx="2377440" cy="685800"/>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58518"/>
                </a:solidFill>
                <a:latin typeface="Aptos Display"/>
              </a:defRPr>
            </a:pPr>
            <a:r>
              <a:t>Đường bị nghẽn</a:t>
            </a:r>
          </a:p>
          <a:p>
            <a:pPr algn="ctr">
              <a:spcBef>
                <a:spcPts val="500"/>
              </a:spcBef>
              <a:defRPr sz="1200">
                <a:solidFill>
                  <a:srgbClr val="2C3E50"/>
                </a:solidFill>
                <a:latin typeface="Aptos"/>
              </a:defRPr>
            </a:pPr>
            <a:r>
              <a:t>request thật bị chậm</a:t>
            </a:r>
          </a:p>
        </p:txBody>
      </p:sp>
      <p:sp>
        <p:nvSpPr>
          <p:cNvPr id="22" name="Oval 21"/>
          <p:cNvSpPr/>
          <p:nvPr/>
        </p:nvSpPr>
        <p:spPr>
          <a:xfrm>
            <a:off x="777240" y="1152144"/>
            <a:ext cx="100584" cy="100584"/>
          </a:xfrm>
          <a:prstGeom prst="ellipse">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 y="1078992"/>
            <a:ext cx="4096512" cy="320040"/>
          </a:xfrm>
          <a:prstGeom prst="rect">
            <a:avLst/>
          </a:prstGeom>
          <a:noFill/>
        </p:spPr>
        <p:txBody>
          <a:bodyPr wrap="square">
            <a:spAutoFit/>
          </a:bodyPr>
          <a:lstStyle/>
          <a:p>
            <a:pPr algn="l">
              <a:defRPr sz="1500" b="0">
                <a:solidFill>
                  <a:srgbClr val="2C3E50"/>
                </a:solidFill>
                <a:latin typeface="Aptos"/>
              </a:defRPr>
            </a:pPr>
            <a:r>
              <a:t>Nhiều nguồn gửi traffic cùng lúc</a:t>
            </a:r>
          </a:p>
        </p:txBody>
      </p:sp>
      <p:sp>
        <p:nvSpPr>
          <p:cNvPr id="24" name="Oval 23"/>
          <p:cNvSpPr/>
          <p:nvPr/>
        </p:nvSpPr>
        <p:spPr>
          <a:xfrm>
            <a:off x="777240" y="1472184"/>
            <a:ext cx="100584" cy="100584"/>
          </a:xfrm>
          <a:prstGeom prst="ellipse">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1399032"/>
            <a:ext cx="4096512" cy="320040"/>
          </a:xfrm>
          <a:prstGeom prst="rect">
            <a:avLst/>
          </a:prstGeom>
          <a:noFill/>
        </p:spPr>
        <p:txBody>
          <a:bodyPr wrap="square">
            <a:spAutoFit/>
          </a:bodyPr>
          <a:lstStyle/>
          <a:p>
            <a:pPr algn="l">
              <a:defRPr sz="1500" b="0">
                <a:solidFill>
                  <a:srgbClr val="2C3E50"/>
                </a:solidFill>
                <a:latin typeface="Aptos"/>
              </a:defRPr>
            </a:pPr>
            <a:r>
              <a:t>Server phải xử lý quá nhiều request</a:t>
            </a:r>
          </a:p>
        </p:txBody>
      </p:sp>
      <p:sp>
        <p:nvSpPr>
          <p:cNvPr id="26" name="Oval 25"/>
          <p:cNvSpPr/>
          <p:nvPr/>
        </p:nvSpPr>
        <p:spPr>
          <a:xfrm>
            <a:off x="777240" y="1792224"/>
            <a:ext cx="100584" cy="100584"/>
          </a:xfrm>
          <a:prstGeom prst="ellipse">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1719072"/>
            <a:ext cx="4096512" cy="320040"/>
          </a:xfrm>
          <a:prstGeom prst="rect">
            <a:avLst/>
          </a:prstGeom>
          <a:noFill/>
        </p:spPr>
        <p:txBody>
          <a:bodyPr wrap="square">
            <a:spAutoFit/>
          </a:bodyPr>
          <a:lstStyle/>
          <a:p>
            <a:pPr algn="l">
              <a:defRPr sz="1500" b="0">
                <a:solidFill>
                  <a:srgbClr val="2C3E50"/>
                </a:solidFill>
                <a:latin typeface="Aptos"/>
              </a:defRPr>
            </a:pPr>
            <a:r>
              <a:t>Người dùng thật bị ảnh hưởng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VẤN ĐỀ</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Vì sao cách cũ bị muộn?</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Phát hiện ở server/controller nghĩa là attack đã đi qua mạng</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04</a:t>
            </a:r>
          </a:p>
        </p:txBody>
      </p:sp>
      <p:sp>
        <p:nvSpPr>
          <p:cNvPr id="8" name="Rounded Rectangle 7"/>
          <p:cNvSpPr/>
          <p:nvPr/>
        </p:nvSpPr>
        <p:spPr>
          <a:xfrm>
            <a:off x="822960" y="1965960"/>
            <a:ext cx="1920240" cy="1143000"/>
          </a:xfrm>
          <a:prstGeom prst="roundRect">
            <a:avLst/>
          </a:prstGeom>
          <a:solidFill>
            <a:srgbClr val="FFF3F3"/>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F5A5F"/>
                </a:solidFill>
                <a:latin typeface="Aptos Display"/>
              </a:defRPr>
            </a:pPr>
            <a:r>
              <a:t>Traditional</a:t>
            </a:r>
          </a:p>
          <a:p>
            <a:pPr algn="ctr">
              <a:spcBef>
                <a:spcPts val="500"/>
              </a:spcBef>
              <a:defRPr sz="1300">
                <a:solidFill>
                  <a:srgbClr val="2C3E50"/>
                </a:solidFill>
                <a:latin typeface="Aptos"/>
              </a:defRPr>
            </a:pPr>
            <a:r>
              <a:t>phân tích ở server/controller</a:t>
            </a:r>
          </a:p>
        </p:txBody>
      </p:sp>
      <p:sp>
        <p:nvSpPr>
          <p:cNvPr id="9" name="Rounded Rectangle 8"/>
          <p:cNvSpPr/>
          <p:nvPr/>
        </p:nvSpPr>
        <p:spPr>
          <a:xfrm>
            <a:off x="3840480" y="1965960"/>
            <a:ext cx="1920240" cy="1143000"/>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58518"/>
                </a:solidFill>
                <a:latin typeface="Aptos Display"/>
              </a:defRPr>
            </a:pPr>
            <a:r>
              <a:t>Network</a:t>
            </a:r>
          </a:p>
          <a:p>
            <a:pPr algn="ctr">
              <a:spcBef>
                <a:spcPts val="500"/>
              </a:spcBef>
              <a:defRPr sz="1300">
                <a:solidFill>
                  <a:srgbClr val="2C3E50"/>
                </a:solidFill>
                <a:latin typeface="Aptos"/>
              </a:defRPr>
            </a:pPr>
            <a:r>
              <a:t>đã chịu tải</a:t>
            </a:r>
          </a:p>
        </p:txBody>
      </p:sp>
      <p:sp>
        <p:nvSpPr>
          <p:cNvPr id="10" name="Rounded Rectangle 9"/>
          <p:cNvSpPr/>
          <p:nvPr/>
        </p:nvSpPr>
        <p:spPr>
          <a:xfrm>
            <a:off x="6858000" y="1965960"/>
            <a:ext cx="1920240" cy="1143000"/>
          </a:xfrm>
          <a:prstGeom prst="roundRect">
            <a:avLst/>
          </a:prstGeom>
          <a:solidFill>
            <a:srgbClr val="FFF3F3"/>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F5A5F"/>
                </a:solidFill>
                <a:latin typeface="Aptos Display"/>
              </a:defRPr>
            </a:pPr>
            <a:r>
              <a:t>Victim</a:t>
            </a:r>
          </a:p>
          <a:p>
            <a:pPr algn="ctr">
              <a:spcBef>
                <a:spcPts val="500"/>
              </a:spcBef>
              <a:defRPr sz="1300">
                <a:solidFill>
                  <a:srgbClr val="2C3E50"/>
                </a:solidFill>
                <a:latin typeface="Aptos"/>
              </a:defRPr>
            </a:pPr>
            <a:r>
              <a:t>đã bị áp lực</a:t>
            </a:r>
          </a:p>
        </p:txBody>
      </p:sp>
      <p:sp>
        <p:nvSpPr>
          <p:cNvPr id="11" name="Rounded Rectangle 10"/>
          <p:cNvSpPr/>
          <p:nvPr/>
        </p:nvSpPr>
        <p:spPr>
          <a:xfrm>
            <a:off x="9646920" y="1965960"/>
            <a:ext cx="1600200" cy="1143000"/>
          </a:xfrm>
          <a:prstGeom prst="roundRect">
            <a:avLst/>
          </a:prstGeom>
          <a:solidFill>
            <a:srgbClr val="FFF8E5"/>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58518"/>
                </a:solidFill>
                <a:latin typeface="Aptos Display"/>
              </a:defRPr>
            </a:pPr>
            <a:r>
              <a:t>Detect</a:t>
            </a:r>
          </a:p>
          <a:p>
            <a:pPr algn="ctr">
              <a:spcBef>
                <a:spcPts val="500"/>
              </a:spcBef>
              <a:defRPr sz="1300">
                <a:solidFill>
                  <a:srgbClr val="2C3E50"/>
                </a:solidFill>
                <a:latin typeface="Aptos"/>
              </a:defRPr>
            </a:pPr>
            <a:r>
              <a:t>quá muộn</a:t>
            </a:r>
          </a:p>
        </p:txBody>
      </p:sp>
      <p:cxnSp>
        <p:nvCxnSpPr>
          <p:cNvPr id="12" name="Connector 11"/>
          <p:cNvCxnSpPr/>
          <p:nvPr/>
        </p:nvCxnSpPr>
        <p:spPr>
          <a:xfrm>
            <a:off x="2743200" y="2542032"/>
            <a:ext cx="1097280" cy="0"/>
          </a:xfrm>
          <a:prstGeom prst="line">
            <a:avLst/>
          </a:prstGeom>
          <a:ln w="27940">
            <a:solidFill>
              <a:srgbClr val="FF5A5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760720" y="2542032"/>
            <a:ext cx="1097280" cy="0"/>
          </a:xfrm>
          <a:prstGeom prst="line">
            <a:avLst/>
          </a:prstGeom>
          <a:ln w="27940">
            <a:solidFill>
              <a:srgbClr val="FF5A5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778240" y="2542032"/>
            <a:ext cx="868680" cy="0"/>
          </a:xfrm>
          <a:prstGeom prst="line">
            <a:avLst/>
          </a:prstGeom>
          <a:ln w="27940">
            <a:solidFill>
              <a:srgbClr val="FF5A5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057400" y="4160520"/>
            <a:ext cx="7863840" cy="749808"/>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900" b="1">
                <a:solidFill>
                  <a:srgbClr val="0B1F3A"/>
                </a:solidFill>
                <a:latin typeface="Aptos Display"/>
              </a:defRPr>
            </a:pPr>
            <a:r>
              <a:t>Ý tưởng của SISTAR: phát hiện sớm hơn ngay trong switch trên đường đi của packet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PAPER</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SISTAR giải quyết như thế nào?</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Ba ý tưởng chính trong paper</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05</a:t>
            </a:r>
          </a:p>
        </p:txBody>
      </p:sp>
      <p:sp>
        <p:nvSpPr>
          <p:cNvPr id="8" name="Rounded Rectangle 7"/>
          <p:cNvSpPr/>
          <p:nvPr/>
        </p:nvSpPr>
        <p:spPr>
          <a:xfrm>
            <a:off x="822960" y="1828800"/>
            <a:ext cx="2834640" cy="182880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0BCD4"/>
                </a:solidFill>
                <a:latin typeface="Aptos Display"/>
              </a:defRPr>
            </a:pPr>
            <a:r>
              <a:t>In-switch detection</a:t>
            </a:r>
          </a:p>
          <a:p>
            <a:pPr algn="ctr">
              <a:spcBef>
                <a:spcPts val="500"/>
              </a:spcBef>
              <a:defRPr sz="1500">
                <a:solidFill>
                  <a:srgbClr val="2C3E50"/>
                </a:solidFill>
                <a:latin typeface="Aptos"/>
              </a:defRPr>
            </a:pPr>
            <a:r>
              <a:t>Phát hiện ngay tại data plane</a:t>
            </a:r>
          </a:p>
        </p:txBody>
      </p:sp>
      <p:sp>
        <p:nvSpPr>
          <p:cNvPr id="9" name="Rounded Rectangle 8"/>
          <p:cNvSpPr/>
          <p:nvPr/>
        </p:nvSpPr>
        <p:spPr>
          <a:xfrm>
            <a:off x="1234440" y="4160520"/>
            <a:ext cx="2011680" cy="59436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00BCD4"/>
                </a:solidFill>
                <a:latin typeface="Aptos Display"/>
              </a:defRPr>
            </a:pPr>
            <a:r>
              <a:t>WHY</a:t>
            </a:r>
          </a:p>
          <a:p>
            <a:pPr>
              <a:defRPr sz="1050">
                <a:solidFill>
                  <a:srgbClr val="6B7280"/>
                </a:solidFill>
                <a:latin typeface="Aptos"/>
              </a:defRPr>
            </a:pPr>
            <a:r>
              <a:t>nhanh hơn xử lý ở server</a:t>
            </a:r>
          </a:p>
        </p:txBody>
      </p:sp>
      <p:sp>
        <p:nvSpPr>
          <p:cNvPr id="10" name="Rectangle 9"/>
          <p:cNvSpPr/>
          <p:nvPr/>
        </p:nvSpPr>
        <p:spPr>
          <a:xfrm>
            <a:off x="1234440" y="4160520"/>
            <a:ext cx="73152" cy="594360"/>
          </a:xfrm>
          <a:prstGeom prst="rect">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1828800"/>
            <a:ext cx="2834640" cy="1828800"/>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58518"/>
                </a:solidFill>
                <a:latin typeface="Aptos Display"/>
              </a:defRPr>
            </a:pPr>
            <a:r>
              <a:t>Lightweight ML</a:t>
            </a:r>
          </a:p>
          <a:p>
            <a:pPr algn="ctr">
              <a:spcBef>
                <a:spcPts val="500"/>
              </a:spcBef>
              <a:defRPr sz="1500">
                <a:solidFill>
                  <a:srgbClr val="2C3E50"/>
                </a:solidFill>
                <a:latin typeface="Aptos"/>
              </a:defRPr>
            </a:pPr>
            <a:r>
              <a:t>Dùng model cây nhỏ, dễ chuyển thành luật</a:t>
            </a:r>
          </a:p>
        </p:txBody>
      </p:sp>
      <p:sp>
        <p:nvSpPr>
          <p:cNvPr id="12" name="Rounded Rectangle 11"/>
          <p:cNvSpPr/>
          <p:nvPr/>
        </p:nvSpPr>
        <p:spPr>
          <a:xfrm>
            <a:off x="4709160" y="4160520"/>
            <a:ext cx="2011680" cy="59436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F58518"/>
                </a:solidFill>
                <a:latin typeface="Aptos Display"/>
              </a:defRPr>
            </a:pPr>
            <a:r>
              <a:t>WHY</a:t>
            </a:r>
          </a:p>
          <a:p>
            <a:pPr>
              <a:defRPr sz="1050">
                <a:solidFill>
                  <a:srgbClr val="6B7280"/>
                </a:solidFill>
                <a:latin typeface="Aptos"/>
              </a:defRPr>
            </a:pPr>
            <a:r>
              <a:t>nhanh hơn xử lý ở server</a:t>
            </a:r>
          </a:p>
        </p:txBody>
      </p:sp>
      <p:sp>
        <p:nvSpPr>
          <p:cNvPr id="13" name="Rectangle 12"/>
          <p:cNvSpPr/>
          <p:nvPr/>
        </p:nvSpPr>
        <p:spPr>
          <a:xfrm>
            <a:off x="4709160" y="4160520"/>
            <a:ext cx="73152" cy="594360"/>
          </a:xfrm>
          <a:prstGeom prst="rect">
            <a:avLst/>
          </a:prstGeom>
          <a:solidFill>
            <a:srgbClr val="F58518"/>
          </a:solidFill>
          <a:ln>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0" y="1828800"/>
            <a:ext cx="2834640" cy="182880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Pushback</a:t>
            </a:r>
          </a:p>
          <a:p>
            <a:pPr algn="ctr">
              <a:spcBef>
                <a:spcPts val="500"/>
              </a:spcBef>
              <a:defRPr sz="1500">
                <a:solidFill>
                  <a:srgbClr val="2C3E50"/>
                </a:solidFill>
                <a:latin typeface="Aptos"/>
              </a:defRPr>
            </a:pPr>
            <a:r>
              <a:t>Báo upstream để chặn gần nguồn</a:t>
            </a:r>
          </a:p>
        </p:txBody>
      </p:sp>
      <p:sp>
        <p:nvSpPr>
          <p:cNvPr id="15" name="Rounded Rectangle 14"/>
          <p:cNvSpPr/>
          <p:nvPr/>
        </p:nvSpPr>
        <p:spPr>
          <a:xfrm>
            <a:off x="8183879" y="4160520"/>
            <a:ext cx="2011680" cy="59436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WHY</a:t>
            </a:r>
          </a:p>
          <a:p>
            <a:pPr>
              <a:defRPr sz="1050">
                <a:solidFill>
                  <a:srgbClr val="6B7280"/>
                </a:solidFill>
                <a:latin typeface="Aptos"/>
              </a:defRPr>
            </a:pPr>
            <a:r>
              <a:t>nhanh hơn xử lý ở server</a:t>
            </a:r>
          </a:p>
        </p:txBody>
      </p:sp>
      <p:sp>
        <p:nvSpPr>
          <p:cNvPr id="16" name="Rectangle 15"/>
          <p:cNvSpPr/>
          <p:nvPr/>
        </p:nvSpPr>
        <p:spPr>
          <a:xfrm>
            <a:off x="8183879" y="4160520"/>
            <a:ext cx="73152" cy="594360"/>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3657600" y="2743200"/>
            <a:ext cx="640080" cy="0"/>
          </a:xfrm>
          <a:prstGeom prst="line">
            <a:avLst/>
          </a:prstGeom>
          <a:ln w="25400">
            <a:solidFill>
              <a:srgbClr val="00BCD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132320" y="2743200"/>
            <a:ext cx="640080" cy="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NỀN TẢNG</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Data plane vs Control plane</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Giải thích nền tảng bằng hình hai tầng</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06</a:t>
            </a:r>
          </a:p>
        </p:txBody>
      </p:sp>
      <p:sp>
        <p:nvSpPr>
          <p:cNvPr id="8" name="Rounded Rectangle 7"/>
          <p:cNvSpPr/>
          <p:nvPr/>
        </p:nvSpPr>
        <p:spPr>
          <a:xfrm>
            <a:off x="914400" y="1645920"/>
            <a:ext cx="4937760" cy="1097280"/>
          </a:xfrm>
          <a:prstGeom prst="roundRect">
            <a:avLst/>
          </a:prstGeom>
          <a:solidFill>
            <a:srgbClr val="EAF2F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Control plane</a:t>
            </a:r>
          </a:p>
          <a:p>
            <a:pPr algn="ctr">
              <a:spcBef>
                <a:spcPts val="500"/>
              </a:spcBef>
              <a:defRPr sz="1600">
                <a:solidFill>
                  <a:srgbClr val="2C3E50"/>
                </a:solidFill>
                <a:latin typeface="Aptos"/>
              </a:defRPr>
            </a:pPr>
            <a:r>
              <a:t>Bộ não: cấu hình luật, quản lý mạng</a:t>
            </a:r>
          </a:p>
        </p:txBody>
      </p:sp>
      <p:sp>
        <p:nvSpPr>
          <p:cNvPr id="9" name="Rounded Rectangle 8"/>
          <p:cNvSpPr/>
          <p:nvPr/>
        </p:nvSpPr>
        <p:spPr>
          <a:xfrm>
            <a:off x="914400" y="3840480"/>
            <a:ext cx="4937760" cy="1097280"/>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Data plane</a:t>
            </a:r>
          </a:p>
          <a:p>
            <a:pPr algn="ctr">
              <a:spcBef>
                <a:spcPts val="500"/>
              </a:spcBef>
              <a:defRPr sz="1600">
                <a:solidFill>
                  <a:srgbClr val="2C3E50"/>
                </a:solidFill>
                <a:latin typeface="Aptos"/>
              </a:defRPr>
            </a:pPr>
            <a:r>
              <a:t>Đường cao tốc: xử lý packet cực nhanh</a:t>
            </a:r>
          </a:p>
        </p:txBody>
      </p:sp>
      <p:cxnSp>
        <p:nvCxnSpPr>
          <p:cNvPr id="10" name="Connector 9"/>
          <p:cNvCxnSpPr/>
          <p:nvPr/>
        </p:nvCxnSpPr>
        <p:spPr>
          <a:xfrm>
            <a:off x="3383280" y="2743200"/>
            <a:ext cx="0" cy="1097280"/>
          </a:xfrm>
          <a:prstGeom prst="line">
            <a:avLst/>
          </a:prstGeom>
          <a:ln w="22860">
            <a:solidFill>
              <a:srgbClr val="6B728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766560" y="2057400"/>
            <a:ext cx="4023360" cy="219456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SISTAR chọn data plane</a:t>
            </a:r>
          </a:p>
          <a:p>
            <a:pPr algn="ctr">
              <a:spcBef>
                <a:spcPts val="500"/>
              </a:spcBef>
              <a:defRPr sz="1500">
                <a:solidFill>
                  <a:srgbClr val="2C3E50"/>
                </a:solidFill>
                <a:latin typeface="Aptos"/>
              </a:defRPr>
            </a:pPr>
            <a:r>
              <a:t>Vì packet đi qua đây liên tục. Nếu phát hiện tại đây, hệ thống phản ứng trước khi victim bị ngập traffic.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NỀN TẢNG</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P4 pipeline: packet được xử lý ra sao?</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Parser → feature → match-action → forward/drop</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07</a:t>
            </a:r>
          </a:p>
        </p:txBody>
      </p:sp>
      <p:sp>
        <p:nvSpPr>
          <p:cNvPr id="8" name="Rounded Rectangle 7"/>
          <p:cNvSpPr/>
          <p:nvPr/>
        </p:nvSpPr>
        <p:spPr>
          <a:xfrm>
            <a:off x="594360" y="2148840"/>
            <a:ext cx="1828800" cy="1024128"/>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Packet</a:t>
            </a:r>
          </a:p>
          <a:p>
            <a:pPr algn="ctr">
              <a:spcBef>
                <a:spcPts val="500"/>
              </a:spcBef>
              <a:defRPr sz="1200">
                <a:solidFill>
                  <a:srgbClr val="2C3E50"/>
                </a:solidFill>
                <a:latin typeface="Aptos"/>
              </a:defRPr>
            </a:pPr>
            <a:r>
              <a:t>đi vào</a:t>
            </a:r>
          </a:p>
        </p:txBody>
      </p:sp>
      <p:cxnSp>
        <p:nvCxnSpPr>
          <p:cNvPr id="9" name="Connector 8"/>
          <p:cNvCxnSpPr/>
          <p:nvPr/>
        </p:nvCxnSpPr>
        <p:spPr>
          <a:xfrm>
            <a:off x="2423160" y="2660904"/>
            <a:ext cx="411480" cy="0"/>
          </a:xfrm>
          <a:prstGeom prst="line">
            <a:avLst/>
          </a:prstGeom>
          <a:ln w="25400">
            <a:solidFill>
              <a:srgbClr val="00BCD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26079" y="2148840"/>
            <a:ext cx="1828800" cy="1024128"/>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Parser</a:t>
            </a:r>
          </a:p>
          <a:p>
            <a:pPr algn="ctr">
              <a:spcBef>
                <a:spcPts val="500"/>
              </a:spcBef>
              <a:defRPr sz="1200">
                <a:solidFill>
                  <a:srgbClr val="2C3E50"/>
                </a:solidFill>
                <a:latin typeface="Aptos"/>
              </a:defRPr>
            </a:pPr>
            <a:r>
              <a:t>đọc header</a:t>
            </a:r>
          </a:p>
        </p:txBody>
      </p:sp>
      <p:cxnSp>
        <p:nvCxnSpPr>
          <p:cNvPr id="11" name="Connector 10"/>
          <p:cNvCxnSpPr/>
          <p:nvPr/>
        </p:nvCxnSpPr>
        <p:spPr>
          <a:xfrm>
            <a:off x="4754879" y="2660904"/>
            <a:ext cx="411481" cy="0"/>
          </a:xfrm>
          <a:prstGeom prst="line">
            <a:avLst/>
          </a:prstGeom>
          <a:ln w="25400">
            <a:solidFill>
              <a:srgbClr val="00BCD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57800" y="2148840"/>
            <a:ext cx="1828800" cy="1024128"/>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Feature</a:t>
            </a:r>
          </a:p>
          <a:p>
            <a:pPr algn="ctr">
              <a:spcBef>
                <a:spcPts val="500"/>
              </a:spcBef>
              <a:defRPr sz="1200">
                <a:solidFill>
                  <a:srgbClr val="2C3E50"/>
                </a:solidFill>
                <a:latin typeface="Aptos"/>
              </a:defRPr>
            </a:pPr>
            <a:r>
              <a:t>tính đặc trưng</a:t>
            </a:r>
          </a:p>
        </p:txBody>
      </p:sp>
      <p:cxnSp>
        <p:nvCxnSpPr>
          <p:cNvPr id="13" name="Connector 12"/>
          <p:cNvCxnSpPr/>
          <p:nvPr/>
        </p:nvCxnSpPr>
        <p:spPr>
          <a:xfrm>
            <a:off x="7086600" y="2660904"/>
            <a:ext cx="411479" cy="0"/>
          </a:xfrm>
          <a:prstGeom prst="line">
            <a:avLst/>
          </a:prstGeom>
          <a:ln w="25400">
            <a:solidFill>
              <a:srgbClr val="00BCD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589519" y="2148840"/>
            <a:ext cx="1828800" cy="1024128"/>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Table</a:t>
            </a:r>
          </a:p>
          <a:p>
            <a:pPr algn="ctr">
              <a:spcBef>
                <a:spcPts val="500"/>
              </a:spcBef>
              <a:defRPr sz="1200">
                <a:solidFill>
                  <a:srgbClr val="2C3E50"/>
                </a:solidFill>
                <a:latin typeface="Aptos"/>
              </a:defRPr>
            </a:pPr>
            <a:r>
              <a:t>so rule</a:t>
            </a:r>
          </a:p>
        </p:txBody>
      </p:sp>
      <p:cxnSp>
        <p:nvCxnSpPr>
          <p:cNvPr id="15" name="Connector 14"/>
          <p:cNvCxnSpPr/>
          <p:nvPr/>
        </p:nvCxnSpPr>
        <p:spPr>
          <a:xfrm>
            <a:off x="9418319" y="2660904"/>
            <a:ext cx="411481" cy="0"/>
          </a:xfrm>
          <a:prstGeom prst="line">
            <a:avLst/>
          </a:prstGeom>
          <a:ln w="25400">
            <a:solidFill>
              <a:srgbClr val="00BCD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21240" y="2148840"/>
            <a:ext cx="1828800" cy="1024128"/>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Action</a:t>
            </a:r>
          </a:p>
          <a:p>
            <a:pPr algn="ctr">
              <a:spcBef>
                <a:spcPts val="500"/>
              </a:spcBef>
              <a:defRPr sz="1200">
                <a:solidFill>
                  <a:srgbClr val="2C3E50"/>
                </a:solidFill>
                <a:latin typeface="Aptos"/>
              </a:defRPr>
            </a:pPr>
            <a:r>
              <a:t>forward/drop</a:t>
            </a:r>
          </a:p>
        </p:txBody>
      </p:sp>
      <p:sp>
        <p:nvSpPr>
          <p:cNvPr id="17" name="Oval 16"/>
          <p:cNvSpPr/>
          <p:nvPr/>
        </p:nvSpPr>
        <p:spPr>
          <a:xfrm>
            <a:off x="914400" y="4507992"/>
            <a:ext cx="100584" cy="100584"/>
          </a:xfrm>
          <a:prstGeom prst="ellipse">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4434840"/>
            <a:ext cx="6656832" cy="335280"/>
          </a:xfrm>
          <a:prstGeom prst="rect">
            <a:avLst/>
          </a:prstGeom>
          <a:noFill/>
        </p:spPr>
        <p:txBody>
          <a:bodyPr wrap="square">
            <a:spAutoFit/>
          </a:bodyPr>
          <a:lstStyle/>
          <a:p>
            <a:pPr algn="l">
              <a:defRPr sz="1800" b="0">
                <a:solidFill>
                  <a:srgbClr val="2C3E50"/>
                </a:solidFill>
                <a:latin typeface="Aptos"/>
              </a:defRPr>
            </a:pPr>
            <a:r>
              <a:t>Switch không chỉ forward packet</a:t>
            </a:r>
          </a:p>
        </p:txBody>
      </p:sp>
      <p:sp>
        <p:nvSpPr>
          <p:cNvPr id="19" name="Oval 18"/>
          <p:cNvSpPr/>
          <p:nvPr/>
        </p:nvSpPr>
        <p:spPr>
          <a:xfrm>
            <a:off x="914400" y="4843272"/>
            <a:ext cx="100584" cy="100584"/>
          </a:xfrm>
          <a:prstGeom prst="ellipse">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5568" y="4770120"/>
            <a:ext cx="6656832" cy="335280"/>
          </a:xfrm>
          <a:prstGeom prst="rect">
            <a:avLst/>
          </a:prstGeom>
          <a:noFill/>
        </p:spPr>
        <p:txBody>
          <a:bodyPr wrap="square">
            <a:spAutoFit/>
          </a:bodyPr>
          <a:lstStyle/>
          <a:p>
            <a:pPr algn="l">
              <a:defRPr sz="1800" b="0">
                <a:solidFill>
                  <a:srgbClr val="2C3E50"/>
                </a:solidFill>
                <a:latin typeface="Aptos"/>
              </a:defRPr>
            </a:pPr>
            <a:r>
              <a:t>Có thể lập trình parser/table/action</a:t>
            </a:r>
          </a:p>
        </p:txBody>
      </p:sp>
      <p:sp>
        <p:nvSpPr>
          <p:cNvPr id="21" name="Oval 20"/>
          <p:cNvSpPr/>
          <p:nvPr/>
        </p:nvSpPr>
        <p:spPr>
          <a:xfrm>
            <a:off x="914400" y="5178552"/>
            <a:ext cx="100584" cy="100584"/>
          </a:xfrm>
          <a:prstGeom prst="ellipse">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5568" y="5105400"/>
            <a:ext cx="6656832" cy="335280"/>
          </a:xfrm>
          <a:prstGeom prst="rect">
            <a:avLst/>
          </a:prstGeom>
          <a:noFill/>
        </p:spPr>
        <p:txBody>
          <a:bodyPr wrap="square">
            <a:spAutoFit/>
          </a:bodyPr>
          <a:lstStyle/>
          <a:p>
            <a:pPr algn="l">
              <a:defRPr sz="1800" b="0">
                <a:solidFill>
                  <a:srgbClr val="2C3E50"/>
                </a:solidFill>
                <a:latin typeface="Aptos"/>
              </a:defRPr>
            </a:pPr>
            <a:r>
              <a:t>Model cây có thể map thành rule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DỮ LIỆU</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Flow và feature</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Từ nhiều packet thành đặc trưng hành vi</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08</a:t>
            </a:r>
          </a:p>
        </p:txBody>
      </p:sp>
      <p:sp>
        <p:nvSpPr>
          <p:cNvPr id="8" name="Rounded Rectangle 7"/>
          <p:cNvSpPr/>
          <p:nvPr/>
        </p:nvSpPr>
        <p:spPr>
          <a:xfrm>
            <a:off x="822960" y="1874519"/>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sp>
        <p:nvSpPr>
          <p:cNvPr id="9" name="Rounded Rectangle 8"/>
          <p:cNvSpPr/>
          <p:nvPr/>
        </p:nvSpPr>
        <p:spPr>
          <a:xfrm>
            <a:off x="1353312" y="1874519"/>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sp>
        <p:nvSpPr>
          <p:cNvPr id="10" name="Rounded Rectangle 9"/>
          <p:cNvSpPr/>
          <p:nvPr/>
        </p:nvSpPr>
        <p:spPr>
          <a:xfrm>
            <a:off x="1883664" y="1874519"/>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sp>
        <p:nvSpPr>
          <p:cNvPr id="11" name="Rounded Rectangle 10"/>
          <p:cNvSpPr/>
          <p:nvPr/>
        </p:nvSpPr>
        <p:spPr>
          <a:xfrm>
            <a:off x="2414015" y="1874519"/>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sp>
        <p:nvSpPr>
          <p:cNvPr id="12" name="Rounded Rectangle 11"/>
          <p:cNvSpPr/>
          <p:nvPr/>
        </p:nvSpPr>
        <p:spPr>
          <a:xfrm>
            <a:off x="2944368" y="1874519"/>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sp>
        <p:nvSpPr>
          <p:cNvPr id="13" name="Rounded Rectangle 12"/>
          <p:cNvSpPr/>
          <p:nvPr/>
        </p:nvSpPr>
        <p:spPr>
          <a:xfrm>
            <a:off x="822960" y="2350008"/>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sp>
        <p:nvSpPr>
          <p:cNvPr id="14" name="Rounded Rectangle 13"/>
          <p:cNvSpPr/>
          <p:nvPr/>
        </p:nvSpPr>
        <p:spPr>
          <a:xfrm>
            <a:off x="1353312" y="2350008"/>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sp>
        <p:nvSpPr>
          <p:cNvPr id="15" name="Rounded Rectangle 14"/>
          <p:cNvSpPr/>
          <p:nvPr/>
        </p:nvSpPr>
        <p:spPr>
          <a:xfrm>
            <a:off x="1883664" y="2350008"/>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sp>
        <p:nvSpPr>
          <p:cNvPr id="16" name="Rounded Rectangle 15"/>
          <p:cNvSpPr/>
          <p:nvPr/>
        </p:nvSpPr>
        <p:spPr>
          <a:xfrm>
            <a:off x="2414015" y="2350008"/>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sp>
        <p:nvSpPr>
          <p:cNvPr id="17" name="Rounded Rectangle 16"/>
          <p:cNvSpPr/>
          <p:nvPr/>
        </p:nvSpPr>
        <p:spPr>
          <a:xfrm>
            <a:off x="2944368" y="2350008"/>
            <a:ext cx="384048" cy="256032"/>
          </a:xfrm>
          <a:prstGeom prst="roundRect">
            <a:avLst/>
          </a:prstGeom>
          <a:solidFill>
            <a:srgbClr val="E7F8FA"/>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700" b="1">
                <a:solidFill>
                  <a:srgbClr val="1E3A5F"/>
                </a:solidFill>
                <a:latin typeface="Aptos Display"/>
              </a:defRPr>
            </a:pPr>
            <a:r>
              <a:t>pkt</a:t>
            </a:r>
          </a:p>
        </p:txBody>
      </p:sp>
      <p:cxnSp>
        <p:nvCxnSpPr>
          <p:cNvPr id="18" name="Connector 17"/>
          <p:cNvCxnSpPr/>
          <p:nvPr/>
        </p:nvCxnSpPr>
        <p:spPr>
          <a:xfrm>
            <a:off x="3657600" y="2286000"/>
            <a:ext cx="1051560" cy="0"/>
          </a:xfrm>
          <a:prstGeom prst="line">
            <a:avLst/>
          </a:prstGeom>
          <a:ln w="25400">
            <a:solidFill>
              <a:srgbClr val="00BCD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709160" y="1664208"/>
            <a:ext cx="1874519" cy="1234440"/>
          </a:xfrm>
          <a:prstGeom prst="roundRect">
            <a:avLst/>
          </a:prstGeom>
          <a:solidFill>
            <a:srgbClr val="FFFFFF"/>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Flow</a:t>
            </a:r>
          </a:p>
          <a:p>
            <a:pPr algn="ctr">
              <a:spcBef>
                <a:spcPts val="500"/>
              </a:spcBef>
              <a:defRPr sz="1300">
                <a:solidFill>
                  <a:srgbClr val="2C3E50"/>
                </a:solidFill>
                <a:latin typeface="Aptos"/>
              </a:defRPr>
            </a:pPr>
            <a:r>
              <a:t>nhóm packet cùng hành vi</a:t>
            </a:r>
          </a:p>
        </p:txBody>
      </p:sp>
      <p:cxnSp>
        <p:nvCxnSpPr>
          <p:cNvPr id="20" name="Connector 19"/>
          <p:cNvCxnSpPr/>
          <p:nvPr/>
        </p:nvCxnSpPr>
        <p:spPr>
          <a:xfrm>
            <a:off x="6583680" y="2286000"/>
            <a:ext cx="1051560" cy="0"/>
          </a:xfrm>
          <a:prstGeom prst="line">
            <a:avLst/>
          </a:prstGeom>
          <a:ln w="25400">
            <a:solidFill>
              <a:srgbClr val="00BCD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635240" y="1417320"/>
            <a:ext cx="2971800" cy="173736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Features</a:t>
            </a:r>
          </a:p>
          <a:p>
            <a:pPr algn="ctr">
              <a:spcBef>
                <a:spcPts val="500"/>
              </a:spcBef>
              <a:defRPr sz="1300">
                <a:solidFill>
                  <a:srgbClr val="2C3E50"/>
                </a:solidFill>
                <a:latin typeface="Aptos"/>
              </a:defRPr>
            </a:pPr>
            <a:r>
              <a:t>protocol</a:t>
            </a:r>
            <a:br/>
            <a:r>
              <a:t>packet length</a:t>
            </a:r>
            <a:br/>
            <a:r>
              <a:t>packets/second</a:t>
            </a:r>
            <a:br/>
            <a:r>
              <a:t>header length</a:t>
            </a:r>
          </a:p>
        </p:txBody>
      </p:sp>
      <p:sp>
        <p:nvSpPr>
          <p:cNvPr id="22" name="Rounded Rectangle 21"/>
          <p:cNvSpPr/>
          <p:nvPr/>
        </p:nvSpPr>
        <p:spPr>
          <a:xfrm>
            <a:off x="2194560" y="4297680"/>
            <a:ext cx="7772400" cy="73152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0B1F3A"/>
                </a:solidFill>
                <a:latin typeface="Aptos Display"/>
              </a:defRPr>
            </a:pPr>
            <a:r>
              <a:t>Feature là “dấu hiệu hành vi” giúp model phân biệt benign và attack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DỮ LIỆU</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5 feature trong reproduction</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Dùng đặc trưng hành vi thay vì đọc nội dung payload</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09</a:t>
            </a:r>
          </a:p>
        </p:txBody>
      </p:sp>
      <p:sp>
        <p:nvSpPr>
          <p:cNvPr id="8" name="Rounded Rectangle 7"/>
          <p:cNvSpPr/>
          <p:nvPr/>
        </p:nvSpPr>
        <p:spPr>
          <a:xfrm>
            <a:off x="868680" y="1600200"/>
            <a:ext cx="4434840" cy="749808"/>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800" b="1">
                <a:solidFill>
                  <a:srgbClr val="1E3A5F"/>
                </a:solidFill>
                <a:latin typeface="Aptos Display"/>
              </a:defRPr>
            </a:pPr>
            <a:r>
              <a:t>protocol</a:t>
            </a:r>
          </a:p>
          <a:p>
            <a:pPr algn="l">
              <a:spcBef>
                <a:spcPts val="500"/>
              </a:spcBef>
              <a:defRPr sz="1200">
                <a:solidFill>
                  <a:srgbClr val="2C3E50"/>
                </a:solidFill>
                <a:latin typeface="Aptos"/>
              </a:defRPr>
            </a:pPr>
            <a:r>
              <a:t>Loại giao thức</a:t>
            </a:r>
          </a:p>
        </p:txBody>
      </p:sp>
      <p:sp>
        <p:nvSpPr>
          <p:cNvPr id="9" name="Rounded Rectangle 8"/>
          <p:cNvSpPr/>
          <p:nvPr/>
        </p:nvSpPr>
        <p:spPr>
          <a:xfrm>
            <a:off x="6035040" y="1600200"/>
            <a:ext cx="4434840" cy="749808"/>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800" b="1">
                <a:solidFill>
                  <a:srgbClr val="1E3A5F"/>
                </a:solidFill>
                <a:latin typeface="Aptos Display"/>
              </a:defRPr>
            </a:pPr>
            <a:r>
              <a:t>init_win_bytes_forward</a:t>
            </a:r>
          </a:p>
          <a:p>
            <a:pPr algn="l">
              <a:spcBef>
                <a:spcPts val="500"/>
              </a:spcBef>
              <a:defRPr sz="1200">
                <a:solidFill>
                  <a:srgbClr val="2C3E50"/>
                </a:solidFill>
                <a:latin typeface="Aptos"/>
              </a:defRPr>
            </a:pPr>
            <a:r>
              <a:t>TCP window ban đầu</a:t>
            </a:r>
          </a:p>
        </p:txBody>
      </p:sp>
      <p:sp>
        <p:nvSpPr>
          <p:cNvPr id="10" name="Rounded Rectangle 9"/>
          <p:cNvSpPr/>
          <p:nvPr/>
        </p:nvSpPr>
        <p:spPr>
          <a:xfrm>
            <a:off x="868680" y="2743200"/>
            <a:ext cx="4434840" cy="749808"/>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800" b="1">
                <a:solidFill>
                  <a:srgbClr val="1E3A5F"/>
                </a:solidFill>
                <a:latin typeface="Aptos Display"/>
              </a:defRPr>
            </a:pPr>
            <a:r>
              <a:t>fwd_header_length</a:t>
            </a:r>
          </a:p>
          <a:p>
            <a:pPr algn="l">
              <a:spcBef>
                <a:spcPts val="500"/>
              </a:spcBef>
              <a:defRPr sz="1200">
                <a:solidFill>
                  <a:srgbClr val="2C3E50"/>
                </a:solidFill>
                <a:latin typeface="Aptos"/>
              </a:defRPr>
            </a:pPr>
            <a:r>
              <a:t>Độ dài header</a:t>
            </a:r>
          </a:p>
        </p:txBody>
      </p:sp>
      <p:sp>
        <p:nvSpPr>
          <p:cNvPr id="11" name="Rounded Rectangle 10"/>
          <p:cNvSpPr/>
          <p:nvPr/>
        </p:nvSpPr>
        <p:spPr>
          <a:xfrm>
            <a:off x="6035040" y="2743200"/>
            <a:ext cx="4434840" cy="749808"/>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800" b="1">
                <a:solidFill>
                  <a:srgbClr val="1E3A5F"/>
                </a:solidFill>
                <a:latin typeface="Aptos Display"/>
              </a:defRPr>
            </a:pPr>
            <a:r>
              <a:t>packet_length_mean</a:t>
            </a:r>
          </a:p>
          <a:p>
            <a:pPr algn="l">
              <a:spcBef>
                <a:spcPts val="500"/>
              </a:spcBef>
              <a:defRPr sz="1200">
                <a:solidFill>
                  <a:srgbClr val="2C3E50"/>
                </a:solidFill>
                <a:latin typeface="Aptos"/>
              </a:defRPr>
            </a:pPr>
            <a:r>
              <a:t>Kích thước packet trung bình</a:t>
            </a:r>
          </a:p>
        </p:txBody>
      </p:sp>
      <p:sp>
        <p:nvSpPr>
          <p:cNvPr id="12" name="Rounded Rectangle 11"/>
          <p:cNvSpPr/>
          <p:nvPr/>
        </p:nvSpPr>
        <p:spPr>
          <a:xfrm>
            <a:off x="868680" y="3886200"/>
            <a:ext cx="4434840" cy="749808"/>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800" b="1">
                <a:solidFill>
                  <a:srgbClr val="1E3A5F"/>
                </a:solidFill>
                <a:latin typeface="Aptos Display"/>
              </a:defRPr>
            </a:pPr>
            <a:r>
              <a:t>flow_packets_persecond</a:t>
            </a:r>
          </a:p>
          <a:p>
            <a:pPr algn="l">
              <a:spcBef>
                <a:spcPts val="500"/>
              </a:spcBef>
              <a:defRPr sz="1200">
                <a:solidFill>
                  <a:srgbClr val="2C3E50"/>
                </a:solidFill>
                <a:latin typeface="Aptos"/>
              </a:defRPr>
            </a:pPr>
            <a:r>
              <a:t>Tốc độ packet/giây</a:t>
            </a:r>
          </a:p>
        </p:txBody>
      </p:sp>
      <p:sp>
        <p:nvSpPr>
          <p:cNvPr id="13" name="Rounded Rectangle 12"/>
          <p:cNvSpPr/>
          <p:nvPr/>
        </p:nvSpPr>
        <p:spPr>
          <a:xfrm>
            <a:off x="7315200" y="4800600"/>
            <a:ext cx="3429000" cy="64008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500" b="1">
                <a:solidFill>
                  <a:srgbClr val="4CAF50"/>
                </a:solidFill>
                <a:latin typeface="Aptos Display"/>
              </a:defRPr>
            </a:pPr>
            <a:r>
              <a:t>Các feature này phù hợp hơn với xử lý trong switch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MÔ HÌNH</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Ba model được so sánh</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Không chỉ chính xác, mà còn phải deploy được</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10</a:t>
            </a:r>
          </a:p>
        </p:txBody>
      </p:sp>
      <p:sp>
        <p:nvSpPr>
          <p:cNvPr id="8" name="Rounded Rectangle 7"/>
          <p:cNvSpPr/>
          <p:nvPr/>
        </p:nvSpPr>
        <p:spPr>
          <a:xfrm>
            <a:off x="914400" y="1828800"/>
            <a:ext cx="2971800" cy="1508760"/>
          </a:xfrm>
          <a:prstGeom prst="roundRect">
            <a:avLst/>
          </a:prstGeom>
          <a:solidFill>
            <a:srgbClr val="FFFFFF"/>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DT</a:t>
            </a:r>
          </a:p>
          <a:p>
            <a:pPr algn="ctr">
              <a:spcBef>
                <a:spcPts val="500"/>
              </a:spcBef>
              <a:defRPr sz="1500">
                <a:solidFill>
                  <a:srgbClr val="2C3E50"/>
                </a:solidFill>
                <a:latin typeface="Aptos"/>
              </a:defRPr>
            </a:pPr>
            <a:r>
              <a:t>Dễ hiểu</a:t>
            </a:r>
            <a:br/>
            <a:r>
              <a:t>Dễ chuyển thành luật</a:t>
            </a:r>
          </a:p>
        </p:txBody>
      </p:sp>
      <p:sp>
        <p:nvSpPr>
          <p:cNvPr id="9" name="Rounded Rectangle 8"/>
          <p:cNvSpPr/>
          <p:nvPr/>
        </p:nvSpPr>
        <p:spPr>
          <a:xfrm>
            <a:off x="1234440" y="3977639"/>
            <a:ext cx="233172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1E3A5F"/>
                </a:solidFill>
                <a:latin typeface="Aptos Display"/>
              </a:defRPr>
            </a:pPr>
            <a:r>
              <a:t>Model</a:t>
            </a:r>
          </a:p>
          <a:p>
            <a:pPr>
              <a:defRPr sz="1050">
                <a:solidFill>
                  <a:srgbClr val="6B7280"/>
                </a:solidFill>
                <a:latin typeface="Aptos"/>
              </a:defRPr>
            </a:pPr>
            <a:r>
              <a:t>accuracy ↔ deployability</a:t>
            </a:r>
          </a:p>
        </p:txBody>
      </p:sp>
      <p:sp>
        <p:nvSpPr>
          <p:cNvPr id="10" name="Rectangle 9"/>
          <p:cNvSpPr/>
          <p:nvPr/>
        </p:nvSpPr>
        <p:spPr>
          <a:xfrm>
            <a:off x="1234440" y="3977639"/>
            <a:ext cx="73152" cy="71323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17720" y="1828800"/>
            <a:ext cx="2971800" cy="1508760"/>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58518"/>
                </a:solidFill>
                <a:latin typeface="Aptos Display"/>
              </a:defRPr>
            </a:pPr>
            <a:r>
              <a:t>RF</a:t>
            </a:r>
          </a:p>
          <a:p>
            <a:pPr algn="ctr">
              <a:spcBef>
                <a:spcPts val="500"/>
              </a:spcBef>
              <a:defRPr sz="1500">
                <a:solidFill>
                  <a:srgbClr val="2C3E50"/>
                </a:solidFill>
                <a:latin typeface="Aptos"/>
              </a:defRPr>
            </a:pPr>
            <a:r>
              <a:t>Nhiều cây</a:t>
            </a:r>
            <a:br/>
            <a:r>
              <a:t>Thường nặng hơn</a:t>
            </a:r>
          </a:p>
        </p:txBody>
      </p:sp>
      <p:sp>
        <p:nvSpPr>
          <p:cNvPr id="12" name="Rounded Rectangle 11"/>
          <p:cNvSpPr/>
          <p:nvPr/>
        </p:nvSpPr>
        <p:spPr>
          <a:xfrm>
            <a:off x="4937760" y="3977639"/>
            <a:ext cx="233172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F58518"/>
                </a:solidFill>
                <a:latin typeface="Aptos Display"/>
              </a:defRPr>
            </a:pPr>
            <a:r>
              <a:t>Model</a:t>
            </a:r>
          </a:p>
          <a:p>
            <a:pPr>
              <a:defRPr sz="1050">
                <a:solidFill>
                  <a:srgbClr val="6B7280"/>
                </a:solidFill>
                <a:latin typeface="Aptos"/>
              </a:defRPr>
            </a:pPr>
            <a:r>
              <a:t>accuracy ↔ deployability</a:t>
            </a:r>
          </a:p>
        </p:txBody>
      </p:sp>
      <p:sp>
        <p:nvSpPr>
          <p:cNvPr id="13" name="Rectangle 12"/>
          <p:cNvSpPr/>
          <p:nvPr/>
        </p:nvSpPr>
        <p:spPr>
          <a:xfrm>
            <a:off x="4937760" y="3977639"/>
            <a:ext cx="73152" cy="713232"/>
          </a:xfrm>
          <a:prstGeom prst="rect">
            <a:avLst/>
          </a:prstGeom>
          <a:solidFill>
            <a:srgbClr val="F58518"/>
          </a:solidFill>
          <a:ln>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0" y="1828800"/>
            <a:ext cx="2971800" cy="150876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DT-CTS</a:t>
            </a:r>
          </a:p>
          <a:p>
            <a:pPr algn="ctr">
              <a:spcBef>
                <a:spcPts val="500"/>
              </a:spcBef>
              <a:defRPr sz="1500">
                <a:solidFill>
                  <a:srgbClr val="2C3E50"/>
                </a:solidFill>
                <a:latin typeface="Aptos"/>
              </a:defRPr>
            </a:pPr>
            <a:r>
              <a:t>Giới hạn threshold</a:t>
            </a:r>
            <a:br/>
            <a:r>
              <a:t>Gọn hơn cho switch</a:t>
            </a:r>
          </a:p>
        </p:txBody>
      </p:sp>
      <p:sp>
        <p:nvSpPr>
          <p:cNvPr id="15" name="Rounded Rectangle 14"/>
          <p:cNvSpPr/>
          <p:nvPr/>
        </p:nvSpPr>
        <p:spPr>
          <a:xfrm>
            <a:off x="8641080" y="3977639"/>
            <a:ext cx="233172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Model</a:t>
            </a:r>
          </a:p>
          <a:p>
            <a:pPr>
              <a:defRPr sz="1050">
                <a:solidFill>
                  <a:srgbClr val="6B7280"/>
                </a:solidFill>
                <a:latin typeface="Aptos"/>
              </a:defRPr>
            </a:pPr>
            <a:r>
              <a:t>accuracy ↔ deployability</a:t>
            </a:r>
          </a:p>
        </p:txBody>
      </p:sp>
      <p:sp>
        <p:nvSpPr>
          <p:cNvPr id="16" name="Rectangle 15"/>
          <p:cNvSpPr/>
          <p:nvPr/>
        </p:nvSpPr>
        <p:spPr>
          <a:xfrm>
            <a:off x="8641080" y="3977639"/>
            <a:ext cx="73152" cy="713232"/>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MÔ HÌNH</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DT-CTS là gì?</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Decision Tree có ràng buộc số threshold</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11</a:t>
            </a:r>
          </a:p>
        </p:txBody>
      </p:sp>
      <p:sp>
        <p:nvSpPr>
          <p:cNvPr id="8" name="Rounded Rectangle 7"/>
          <p:cNvSpPr/>
          <p:nvPr/>
        </p:nvSpPr>
        <p:spPr>
          <a:xfrm>
            <a:off x="822960" y="1828800"/>
            <a:ext cx="3291840" cy="1417320"/>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58518"/>
                </a:solidFill>
                <a:latin typeface="Aptos Display"/>
              </a:defRPr>
            </a:pPr>
            <a:r>
              <a:t>Decision Tree thường</a:t>
            </a:r>
          </a:p>
          <a:p>
            <a:pPr algn="ctr">
              <a:spcBef>
                <a:spcPts val="500"/>
              </a:spcBef>
              <a:defRPr sz="1500">
                <a:solidFill>
                  <a:srgbClr val="2C3E50"/>
                </a:solidFill>
                <a:latin typeface="Aptos"/>
              </a:defRPr>
            </a:pPr>
            <a:r>
              <a:t>Nhiều threshold</a:t>
            </a:r>
            <a:br/>
            <a:r>
              <a:t>Cây có thể lớn hơn</a:t>
            </a:r>
          </a:p>
        </p:txBody>
      </p:sp>
      <p:cxnSp>
        <p:nvCxnSpPr>
          <p:cNvPr id="9" name="Connector 8"/>
          <p:cNvCxnSpPr/>
          <p:nvPr/>
        </p:nvCxnSpPr>
        <p:spPr>
          <a:xfrm>
            <a:off x="4114800" y="2542032"/>
            <a:ext cx="1097280" cy="0"/>
          </a:xfrm>
          <a:prstGeom prst="line">
            <a:avLst/>
          </a:prstGeom>
          <a:ln w="30480">
            <a:solidFill>
              <a:srgbClr val="4CAF5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12080" y="1828800"/>
            <a:ext cx="3291840" cy="141732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DT-CTS</a:t>
            </a:r>
          </a:p>
          <a:p>
            <a:pPr algn="ctr">
              <a:spcBef>
                <a:spcPts val="500"/>
              </a:spcBef>
              <a:defRPr sz="1500">
                <a:solidFill>
                  <a:srgbClr val="2C3E50"/>
                </a:solidFill>
                <a:latin typeface="Aptos"/>
              </a:defRPr>
            </a:pPr>
            <a:r>
              <a:t>Giới hạn threshold</a:t>
            </a:r>
            <a:br/>
            <a:r>
              <a:t>Cây gọn hơn</a:t>
            </a:r>
          </a:p>
        </p:txBody>
      </p:sp>
      <p:sp>
        <p:nvSpPr>
          <p:cNvPr id="11" name="Rounded Rectangle 10"/>
          <p:cNvSpPr/>
          <p:nvPr/>
        </p:nvSpPr>
        <p:spPr>
          <a:xfrm>
            <a:off x="9006840" y="1600200"/>
            <a:ext cx="2057400" cy="1874519"/>
          </a:xfrm>
          <a:prstGeom prst="roundRect">
            <a:avLst/>
          </a:prstGeom>
          <a:solidFill>
            <a:srgbClr val="ECF8E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Trade-off</a:t>
            </a:r>
          </a:p>
          <a:p>
            <a:pPr algn="ctr">
              <a:spcBef>
                <a:spcPts val="500"/>
              </a:spcBef>
              <a:defRPr sz="1300">
                <a:solidFill>
                  <a:srgbClr val="2C3E50"/>
                </a:solidFill>
                <a:latin typeface="Aptos"/>
              </a:defRPr>
            </a:pPr>
            <a:r>
              <a:t>Accuracy giảm nhẹ</a:t>
            </a:r>
            <a:br/>
            <a:r>
              <a:t>nhưng dễ triển khai hơn</a:t>
            </a:r>
          </a:p>
        </p:txBody>
      </p:sp>
      <p:sp>
        <p:nvSpPr>
          <p:cNvPr id="12" name="Rounded Rectangle 11"/>
          <p:cNvSpPr/>
          <p:nvPr/>
        </p:nvSpPr>
        <p:spPr>
          <a:xfrm>
            <a:off x="2743200" y="4434840"/>
            <a:ext cx="22860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13</a:t>
            </a:r>
          </a:p>
          <a:p>
            <a:pPr>
              <a:defRPr sz="1050">
                <a:solidFill>
                  <a:srgbClr val="6B7280"/>
                </a:solidFill>
                <a:latin typeface="Aptos"/>
              </a:defRPr>
            </a:pPr>
            <a:r>
              <a:t>DT-CTS thresholds</a:t>
            </a:r>
          </a:p>
        </p:txBody>
      </p:sp>
      <p:sp>
        <p:nvSpPr>
          <p:cNvPr id="13" name="Rectangle 12"/>
          <p:cNvSpPr/>
          <p:nvPr/>
        </p:nvSpPr>
        <p:spPr>
          <a:xfrm>
            <a:off x="2743200" y="4434840"/>
            <a:ext cx="73152" cy="713232"/>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394960" y="4434840"/>
            <a:ext cx="22860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14</a:t>
            </a:r>
          </a:p>
          <a:p>
            <a:pPr>
              <a:defRPr sz="1050">
                <a:solidFill>
                  <a:srgbClr val="6B7280"/>
                </a:solidFill>
                <a:latin typeface="Aptos"/>
              </a:defRPr>
            </a:pPr>
            <a:r>
              <a:t>DT-CTS rules</a:t>
            </a:r>
          </a:p>
        </p:txBody>
      </p:sp>
      <p:sp>
        <p:nvSpPr>
          <p:cNvPr id="15" name="Rectangle 14"/>
          <p:cNvSpPr/>
          <p:nvPr/>
        </p:nvSpPr>
        <p:spPr>
          <a:xfrm>
            <a:off x="5394960" y="4434840"/>
            <a:ext cx="73152" cy="713232"/>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REPRODUCTION</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Pipeline reproduction</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Từ dataset đến chart và mô phỏng pushback</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12</a:t>
            </a:r>
          </a:p>
        </p:txBody>
      </p:sp>
      <p:sp>
        <p:nvSpPr>
          <p:cNvPr id="8" name="Rounded Rectangle 7"/>
          <p:cNvSpPr/>
          <p:nvPr/>
        </p:nvSpPr>
        <p:spPr>
          <a:xfrm>
            <a:off x="502920" y="2103120"/>
            <a:ext cx="1874519" cy="105156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Dataset</a:t>
            </a:r>
          </a:p>
          <a:p>
            <a:pPr algn="ctr">
              <a:spcBef>
                <a:spcPts val="500"/>
              </a:spcBef>
              <a:defRPr sz="1100">
                <a:solidFill>
                  <a:srgbClr val="2C3E50"/>
                </a:solidFill>
                <a:latin typeface="Aptos"/>
              </a:defRPr>
            </a:pPr>
            <a:r>
              <a:t>CICIDS2017 / synthetic</a:t>
            </a:r>
          </a:p>
        </p:txBody>
      </p:sp>
      <p:cxnSp>
        <p:nvCxnSpPr>
          <p:cNvPr id="9" name="Connector 8"/>
          <p:cNvCxnSpPr/>
          <p:nvPr/>
        </p:nvCxnSpPr>
        <p:spPr>
          <a:xfrm>
            <a:off x="2377439" y="2624328"/>
            <a:ext cx="365761" cy="0"/>
          </a:xfrm>
          <a:prstGeom prst="line">
            <a:avLst/>
          </a:prstGeom>
          <a:ln w="22860">
            <a:solidFill>
              <a:srgbClr val="00BCD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07208" y="2103120"/>
            <a:ext cx="1874519" cy="105156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Train</a:t>
            </a:r>
          </a:p>
          <a:p>
            <a:pPr algn="ctr">
              <a:spcBef>
                <a:spcPts val="500"/>
              </a:spcBef>
              <a:defRPr sz="1100">
                <a:solidFill>
                  <a:srgbClr val="2C3E50"/>
                </a:solidFill>
                <a:latin typeface="Aptos"/>
              </a:defRPr>
            </a:pPr>
            <a:r>
              <a:t>DT, RF, DT-CTS</a:t>
            </a:r>
          </a:p>
        </p:txBody>
      </p:sp>
      <p:cxnSp>
        <p:nvCxnSpPr>
          <p:cNvPr id="11" name="Connector 10"/>
          <p:cNvCxnSpPr/>
          <p:nvPr/>
        </p:nvCxnSpPr>
        <p:spPr>
          <a:xfrm>
            <a:off x="4681728" y="2624328"/>
            <a:ext cx="365760" cy="0"/>
          </a:xfrm>
          <a:prstGeom prst="line">
            <a:avLst/>
          </a:prstGeom>
          <a:ln w="22860">
            <a:solidFill>
              <a:srgbClr val="00BCD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11496" y="2103120"/>
            <a:ext cx="1874519" cy="105156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Metrics</a:t>
            </a:r>
          </a:p>
          <a:p>
            <a:pPr algn="ctr">
              <a:spcBef>
                <a:spcPts val="500"/>
              </a:spcBef>
              <a:defRPr sz="1100">
                <a:solidFill>
                  <a:srgbClr val="2C3E50"/>
                </a:solidFill>
                <a:latin typeface="Aptos"/>
              </a:defRPr>
            </a:pPr>
            <a:r>
              <a:t>F1, latency, thresholds</a:t>
            </a:r>
          </a:p>
        </p:txBody>
      </p:sp>
      <p:cxnSp>
        <p:nvCxnSpPr>
          <p:cNvPr id="13" name="Connector 12"/>
          <p:cNvCxnSpPr/>
          <p:nvPr/>
        </p:nvCxnSpPr>
        <p:spPr>
          <a:xfrm>
            <a:off x="6986016" y="2624328"/>
            <a:ext cx="365759" cy="0"/>
          </a:xfrm>
          <a:prstGeom prst="line">
            <a:avLst/>
          </a:prstGeom>
          <a:ln w="22860">
            <a:solidFill>
              <a:srgbClr val="4CAF5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15784" y="2103120"/>
            <a:ext cx="1874519" cy="105156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Pushback</a:t>
            </a:r>
          </a:p>
          <a:p>
            <a:pPr algn="ctr">
              <a:spcBef>
                <a:spcPts val="500"/>
              </a:spcBef>
              <a:defRPr sz="1100">
                <a:solidFill>
                  <a:srgbClr val="2C3E50"/>
                </a:solidFill>
                <a:latin typeface="Aptos"/>
              </a:defRPr>
            </a:pPr>
            <a:r>
              <a:t>3 policy</a:t>
            </a:r>
          </a:p>
        </p:txBody>
      </p:sp>
      <p:cxnSp>
        <p:nvCxnSpPr>
          <p:cNvPr id="15" name="Connector 14"/>
          <p:cNvCxnSpPr/>
          <p:nvPr/>
        </p:nvCxnSpPr>
        <p:spPr>
          <a:xfrm>
            <a:off x="9290304" y="2624328"/>
            <a:ext cx="365760" cy="0"/>
          </a:xfrm>
          <a:prstGeom prst="line">
            <a:avLst/>
          </a:prstGeom>
          <a:ln w="22860">
            <a:solidFill>
              <a:srgbClr val="4CAF5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720072" y="2103120"/>
            <a:ext cx="1874519" cy="105156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Report</a:t>
            </a:r>
          </a:p>
          <a:p>
            <a:pPr algn="ctr">
              <a:spcBef>
                <a:spcPts val="500"/>
              </a:spcBef>
              <a:defRPr sz="1100">
                <a:solidFill>
                  <a:srgbClr val="2C3E50"/>
                </a:solidFill>
                <a:latin typeface="Aptos"/>
              </a:defRPr>
            </a:pPr>
            <a:r>
              <a:t>CSV + PNG + summary</a:t>
            </a:r>
          </a:p>
        </p:txBody>
      </p:sp>
      <p:sp>
        <p:nvSpPr>
          <p:cNvPr id="17" name="Rounded Rectangle 16"/>
          <p:cNvSpPr/>
          <p:nvPr/>
        </p:nvSpPr>
        <p:spPr>
          <a:xfrm>
            <a:off x="1371600" y="4251960"/>
            <a:ext cx="9326880" cy="749808"/>
          </a:xfrm>
          <a:prstGeom prst="roundRect">
            <a:avLst/>
          </a:prstGeom>
          <a:solidFill>
            <a:srgbClr val="FFF8E5"/>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700" b="1">
                <a:solidFill>
                  <a:srgbClr val="F58518"/>
                </a:solidFill>
                <a:latin typeface="Aptos Display"/>
              </a:defRPr>
            </a:pPr>
            <a:r>
              <a:t>Thông điệp phạm vi: reduced reproduction + improvement, không phải full production implementation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14B8C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0B1F3A"/>
                </a:solidFill>
                <a:latin typeface="Aptos Display"/>
              </a:defRPr>
            </a:pPr>
            <a:r>
              <a:t>KẾT QUẢ</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FFFFFF"/>
                </a:solidFill>
                <a:latin typeface="Aptos Display"/>
              </a:defRPr>
            </a:pPr>
            <a:r>
              <a:t>Dashboard kết quả chính</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D6E6F0"/>
                </a:solidFill>
                <a:latin typeface="Aptos"/>
              </a:defRPr>
            </a:pPr>
            <a:r>
              <a:t>Ba nhóm kết quả cần nhớ</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D6E6F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D6E6F0"/>
                </a:solidFill>
                <a:latin typeface="Aptos"/>
              </a:defRPr>
            </a:pPr>
            <a:r>
              <a:t>13</a:t>
            </a:r>
          </a:p>
        </p:txBody>
      </p:sp>
      <p:sp>
        <p:nvSpPr>
          <p:cNvPr id="8" name="TextBox 7"/>
          <p:cNvSpPr txBox="1"/>
          <p:nvPr/>
        </p:nvSpPr>
        <p:spPr>
          <a:xfrm>
            <a:off x="640080" y="1508760"/>
            <a:ext cx="5486400" cy="502920"/>
          </a:xfrm>
          <a:prstGeom prst="rect">
            <a:avLst/>
          </a:prstGeom>
          <a:noFill/>
        </p:spPr>
        <p:txBody>
          <a:bodyPr wrap="square">
            <a:spAutoFit/>
          </a:bodyPr>
          <a:lstStyle/>
          <a:p>
            <a:pPr algn="l">
              <a:defRPr sz="3600" b="1">
                <a:solidFill>
                  <a:srgbClr val="FFFFFF"/>
                </a:solidFill>
                <a:latin typeface="Aptos Display"/>
              </a:defRPr>
            </a:pPr>
            <a:r>
              <a:t>Kết quả chính</a:t>
            </a:r>
          </a:p>
        </p:txBody>
      </p:sp>
      <p:sp>
        <p:nvSpPr>
          <p:cNvPr id="9" name="TextBox 8"/>
          <p:cNvSpPr txBox="1"/>
          <p:nvPr/>
        </p:nvSpPr>
        <p:spPr>
          <a:xfrm>
            <a:off x="658368" y="2057400"/>
            <a:ext cx="5760720" cy="868680"/>
          </a:xfrm>
          <a:prstGeom prst="rect">
            <a:avLst/>
          </a:prstGeom>
          <a:noFill/>
        </p:spPr>
        <p:txBody>
          <a:bodyPr wrap="square">
            <a:spAutoFit/>
          </a:bodyPr>
          <a:lstStyle/>
          <a:p>
            <a:pPr algn="l">
              <a:defRPr sz="1800" b="0">
                <a:solidFill>
                  <a:srgbClr val="D6E6F0"/>
                </a:solidFill>
                <a:latin typeface="Aptos"/>
              </a:defRPr>
            </a:pPr>
            <a:r>
              <a:t>DT-CTS không thắng tuyệt đối về F1, nhưng thắng ở độ gọn và latency. Gated pushback cải thiện điểm yếu false block.</a:t>
            </a:r>
          </a:p>
        </p:txBody>
      </p:sp>
      <p:sp>
        <p:nvSpPr>
          <p:cNvPr id="10" name="Rounded Rectangle 9"/>
          <p:cNvSpPr/>
          <p:nvPr/>
        </p:nvSpPr>
        <p:spPr>
          <a:xfrm>
            <a:off x="777240" y="3246120"/>
            <a:ext cx="2423160" cy="822960"/>
          </a:xfrm>
          <a:prstGeom prst="roundRect">
            <a:avLst/>
          </a:prstGeom>
          <a:solidFill>
            <a:srgbClr val="132B49"/>
          </a:solidFill>
          <a:ln w="12700">
            <a:solidFill>
              <a:srgbClr val="345A80"/>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0.9574</a:t>
            </a:r>
          </a:p>
          <a:p>
            <a:pPr>
              <a:defRPr sz="1050">
                <a:solidFill>
                  <a:srgbClr val="FFFFFF"/>
                </a:solidFill>
                <a:latin typeface="Aptos"/>
              </a:defRPr>
            </a:pPr>
            <a:r>
              <a:t>DT-CTS F1</a:t>
            </a:r>
          </a:p>
        </p:txBody>
      </p:sp>
      <p:sp>
        <p:nvSpPr>
          <p:cNvPr id="11" name="Rectangle 10"/>
          <p:cNvSpPr/>
          <p:nvPr/>
        </p:nvSpPr>
        <p:spPr>
          <a:xfrm>
            <a:off x="777240" y="3246120"/>
            <a:ext cx="73152" cy="822960"/>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20440" y="3246120"/>
            <a:ext cx="2423160" cy="822960"/>
          </a:xfrm>
          <a:prstGeom prst="roundRect">
            <a:avLst/>
          </a:prstGeom>
          <a:solidFill>
            <a:srgbClr val="132B49"/>
          </a:solidFill>
          <a:ln w="12700">
            <a:solidFill>
              <a:srgbClr val="345A80"/>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13</a:t>
            </a:r>
          </a:p>
          <a:p>
            <a:pPr>
              <a:defRPr sz="1050">
                <a:solidFill>
                  <a:srgbClr val="FFFFFF"/>
                </a:solidFill>
                <a:latin typeface="Aptos"/>
              </a:defRPr>
            </a:pPr>
            <a:r>
              <a:t>DT-CTS thresholds</a:t>
            </a:r>
          </a:p>
        </p:txBody>
      </p:sp>
      <p:sp>
        <p:nvSpPr>
          <p:cNvPr id="13" name="Rectangle 12"/>
          <p:cNvSpPr/>
          <p:nvPr/>
        </p:nvSpPr>
        <p:spPr>
          <a:xfrm>
            <a:off x="3520440" y="3246120"/>
            <a:ext cx="73152" cy="822960"/>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3246120"/>
            <a:ext cx="2423160" cy="822960"/>
          </a:xfrm>
          <a:prstGeom prst="roundRect">
            <a:avLst/>
          </a:prstGeom>
          <a:solidFill>
            <a:srgbClr val="132B49"/>
          </a:solidFill>
          <a:ln w="12700">
            <a:solidFill>
              <a:srgbClr val="345A80"/>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5BE3F0"/>
                </a:solidFill>
                <a:latin typeface="Aptos Display"/>
              </a:defRPr>
            </a:pPr>
            <a:r>
              <a:t>0.0012 ms</a:t>
            </a:r>
          </a:p>
          <a:p>
            <a:pPr>
              <a:defRPr sz="1050">
                <a:solidFill>
                  <a:srgbClr val="FFFFFF"/>
                </a:solidFill>
                <a:latin typeface="Aptos"/>
              </a:defRPr>
            </a:pPr>
            <a:r>
              <a:t>DT-CTS latency</a:t>
            </a:r>
          </a:p>
        </p:txBody>
      </p:sp>
      <p:sp>
        <p:nvSpPr>
          <p:cNvPr id="15" name="Rectangle 14"/>
          <p:cNvSpPr/>
          <p:nvPr/>
        </p:nvSpPr>
        <p:spPr>
          <a:xfrm>
            <a:off x="6263640" y="3246120"/>
            <a:ext cx="73152" cy="822960"/>
          </a:xfrm>
          <a:prstGeom prst="rect">
            <a:avLst/>
          </a:prstGeom>
          <a:solidFill>
            <a:srgbClr val="5BE3F0"/>
          </a:solidFill>
          <a:ln>
            <a:solidFill>
              <a:srgbClr val="5B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06840" y="3246120"/>
            <a:ext cx="2423160" cy="822960"/>
          </a:xfrm>
          <a:prstGeom prst="roundRect">
            <a:avLst/>
          </a:prstGeom>
          <a:solidFill>
            <a:srgbClr val="132B49"/>
          </a:solidFill>
          <a:ln w="12700">
            <a:solidFill>
              <a:srgbClr val="345A80"/>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2</a:t>
            </a:r>
          </a:p>
          <a:p>
            <a:pPr>
              <a:defRPr sz="1050">
                <a:solidFill>
                  <a:srgbClr val="FFFFFF"/>
                </a:solidFill>
                <a:latin typeface="Aptos"/>
              </a:defRPr>
            </a:pPr>
            <a:r>
              <a:t>gated false blocks</a:t>
            </a:r>
          </a:p>
        </p:txBody>
      </p:sp>
      <p:sp>
        <p:nvSpPr>
          <p:cNvPr id="17" name="Rectangle 16"/>
          <p:cNvSpPr/>
          <p:nvPr/>
        </p:nvSpPr>
        <p:spPr>
          <a:xfrm>
            <a:off x="9006840" y="3246120"/>
            <a:ext cx="73152" cy="822960"/>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KẾT QUẢ</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Kết quả phân loại</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DT-CTS giảm nhẹ F1 để đổi lấy model gọn hơn</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14</a:t>
            </a:r>
          </a:p>
        </p:txBody>
      </p:sp>
      <p:sp>
        <p:nvSpPr>
          <p:cNvPr id="8" name="Rounded Rectangle 7"/>
          <p:cNvSpPr/>
          <p:nvPr/>
        </p:nvSpPr>
        <p:spPr>
          <a:xfrm>
            <a:off x="640080" y="1371600"/>
            <a:ext cx="6949440" cy="425196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_f1_v2.png"/>
          <p:cNvPicPr>
            <a:picLocks noChangeAspect="1"/>
          </p:cNvPicPr>
          <p:nvPr/>
        </p:nvPicPr>
        <p:blipFill>
          <a:blip r:embed="rId3"/>
          <a:stretch>
            <a:fillRect/>
          </a:stretch>
        </p:blipFill>
        <p:spPr>
          <a:xfrm>
            <a:off x="713231" y="1444752"/>
            <a:ext cx="6803136" cy="4105656"/>
          </a:xfrm>
          <a:prstGeom prst="rect">
            <a:avLst/>
          </a:prstGeom>
        </p:spPr>
      </p:pic>
      <p:sp>
        <p:nvSpPr>
          <p:cNvPr id="10" name="Rounded Rectangle 9"/>
          <p:cNvSpPr/>
          <p:nvPr/>
        </p:nvSpPr>
        <p:spPr>
          <a:xfrm>
            <a:off x="8092440" y="1600200"/>
            <a:ext cx="27432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1E3A5F"/>
                </a:solidFill>
                <a:latin typeface="Aptos Display"/>
              </a:defRPr>
            </a:pPr>
            <a:r>
              <a:t>0.9864</a:t>
            </a:r>
          </a:p>
          <a:p>
            <a:pPr>
              <a:defRPr sz="1050">
                <a:solidFill>
                  <a:srgbClr val="6B7280"/>
                </a:solidFill>
                <a:latin typeface="Aptos"/>
              </a:defRPr>
            </a:pPr>
            <a:r>
              <a:t>DT F1 cao nhất</a:t>
            </a:r>
          </a:p>
        </p:txBody>
      </p:sp>
      <p:sp>
        <p:nvSpPr>
          <p:cNvPr id="11" name="Rectangle 10"/>
          <p:cNvSpPr/>
          <p:nvPr/>
        </p:nvSpPr>
        <p:spPr>
          <a:xfrm>
            <a:off x="8092440" y="1600200"/>
            <a:ext cx="73152" cy="71323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2440" y="2578608"/>
            <a:ext cx="27432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F58518"/>
                </a:solidFill>
                <a:latin typeface="Aptos Display"/>
              </a:defRPr>
            </a:pPr>
            <a:r>
              <a:t>0.9712</a:t>
            </a:r>
          </a:p>
          <a:p>
            <a:pPr>
              <a:defRPr sz="1050">
                <a:solidFill>
                  <a:srgbClr val="6B7280"/>
                </a:solidFill>
                <a:latin typeface="Aptos"/>
              </a:defRPr>
            </a:pPr>
            <a:r>
              <a:t>RF F1</a:t>
            </a:r>
          </a:p>
        </p:txBody>
      </p:sp>
      <p:sp>
        <p:nvSpPr>
          <p:cNvPr id="13" name="Rectangle 12"/>
          <p:cNvSpPr/>
          <p:nvPr/>
        </p:nvSpPr>
        <p:spPr>
          <a:xfrm>
            <a:off x="8092440" y="2578608"/>
            <a:ext cx="73152" cy="713232"/>
          </a:xfrm>
          <a:prstGeom prst="rect">
            <a:avLst/>
          </a:prstGeom>
          <a:solidFill>
            <a:srgbClr val="F58518"/>
          </a:solidFill>
          <a:ln>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2440" y="3557016"/>
            <a:ext cx="27432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0.9574</a:t>
            </a:r>
          </a:p>
          <a:p>
            <a:pPr>
              <a:defRPr sz="1050">
                <a:solidFill>
                  <a:srgbClr val="6B7280"/>
                </a:solidFill>
                <a:latin typeface="Aptos"/>
              </a:defRPr>
            </a:pPr>
            <a:r>
              <a:t>DT-CTS F1</a:t>
            </a:r>
          </a:p>
        </p:txBody>
      </p:sp>
      <p:sp>
        <p:nvSpPr>
          <p:cNvPr id="15" name="Rectangle 14"/>
          <p:cNvSpPr/>
          <p:nvPr/>
        </p:nvSpPr>
        <p:spPr>
          <a:xfrm>
            <a:off x="8092440" y="3557016"/>
            <a:ext cx="73152" cy="713232"/>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92440" y="4617720"/>
            <a:ext cx="2743200" cy="68580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Insight</a:t>
            </a:r>
          </a:p>
          <a:p>
            <a:pPr algn="ctr">
              <a:spcBef>
                <a:spcPts val="500"/>
              </a:spcBef>
              <a:defRPr sz="1100">
                <a:solidFill>
                  <a:srgbClr val="2C3E50"/>
                </a:solidFill>
                <a:latin typeface="Aptos"/>
              </a:defRPr>
            </a:pPr>
            <a:r>
              <a:t>DT-CTS hy sinh một phần nhỏ F1 để giảm độ phức tạp.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KẾT QUẢ</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Độ phức tạp model</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DT-CTS giảm rất mạnh số threshold</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15</a:t>
            </a:r>
          </a:p>
        </p:txBody>
      </p:sp>
      <p:sp>
        <p:nvSpPr>
          <p:cNvPr id="8" name="Rounded Rectangle 7"/>
          <p:cNvSpPr/>
          <p:nvPr/>
        </p:nvSpPr>
        <p:spPr>
          <a:xfrm>
            <a:off x="640080" y="1371600"/>
            <a:ext cx="6949440" cy="425196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_threshold_v2.png"/>
          <p:cNvPicPr>
            <a:picLocks noChangeAspect="1"/>
          </p:cNvPicPr>
          <p:nvPr/>
        </p:nvPicPr>
        <p:blipFill>
          <a:blip r:embed="rId3"/>
          <a:stretch>
            <a:fillRect/>
          </a:stretch>
        </p:blipFill>
        <p:spPr>
          <a:xfrm>
            <a:off x="713231" y="1444752"/>
            <a:ext cx="6803136" cy="4105656"/>
          </a:xfrm>
          <a:prstGeom prst="rect">
            <a:avLst/>
          </a:prstGeom>
        </p:spPr>
      </p:pic>
      <p:sp>
        <p:nvSpPr>
          <p:cNvPr id="10" name="Rounded Rectangle 9"/>
          <p:cNvSpPr/>
          <p:nvPr/>
        </p:nvSpPr>
        <p:spPr>
          <a:xfrm>
            <a:off x="8092440" y="1600200"/>
            <a:ext cx="27432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1E3A5F"/>
                </a:solidFill>
                <a:latin typeface="Aptos Display"/>
              </a:defRPr>
            </a:pPr>
            <a:r>
              <a:t>30</a:t>
            </a:r>
          </a:p>
          <a:p>
            <a:pPr>
              <a:defRPr sz="1050">
                <a:solidFill>
                  <a:srgbClr val="6B7280"/>
                </a:solidFill>
                <a:latin typeface="Aptos"/>
              </a:defRPr>
            </a:pPr>
            <a:r>
              <a:t>DT thresholds</a:t>
            </a:r>
          </a:p>
        </p:txBody>
      </p:sp>
      <p:sp>
        <p:nvSpPr>
          <p:cNvPr id="11" name="Rectangle 10"/>
          <p:cNvSpPr/>
          <p:nvPr/>
        </p:nvSpPr>
        <p:spPr>
          <a:xfrm>
            <a:off x="8092440" y="1600200"/>
            <a:ext cx="73152" cy="71323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2440" y="2578608"/>
            <a:ext cx="27432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F58518"/>
                </a:solidFill>
                <a:latin typeface="Aptos Display"/>
              </a:defRPr>
            </a:pPr>
            <a:r>
              <a:t>166</a:t>
            </a:r>
          </a:p>
          <a:p>
            <a:pPr>
              <a:defRPr sz="1050">
                <a:solidFill>
                  <a:srgbClr val="6B7280"/>
                </a:solidFill>
                <a:latin typeface="Aptos"/>
              </a:defRPr>
            </a:pPr>
            <a:r>
              <a:t>RF thresholds</a:t>
            </a:r>
          </a:p>
        </p:txBody>
      </p:sp>
      <p:sp>
        <p:nvSpPr>
          <p:cNvPr id="13" name="Rectangle 12"/>
          <p:cNvSpPr/>
          <p:nvPr/>
        </p:nvSpPr>
        <p:spPr>
          <a:xfrm>
            <a:off x="8092440" y="2578608"/>
            <a:ext cx="73152" cy="713232"/>
          </a:xfrm>
          <a:prstGeom prst="rect">
            <a:avLst/>
          </a:prstGeom>
          <a:solidFill>
            <a:srgbClr val="F58518"/>
          </a:solidFill>
          <a:ln>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2440" y="3557016"/>
            <a:ext cx="27432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13</a:t>
            </a:r>
          </a:p>
          <a:p>
            <a:pPr>
              <a:defRPr sz="1050">
                <a:solidFill>
                  <a:srgbClr val="6B7280"/>
                </a:solidFill>
                <a:latin typeface="Aptos"/>
              </a:defRPr>
            </a:pPr>
            <a:r>
              <a:t>DT-CTS thresholds</a:t>
            </a:r>
          </a:p>
        </p:txBody>
      </p:sp>
      <p:sp>
        <p:nvSpPr>
          <p:cNvPr id="15" name="Rectangle 14"/>
          <p:cNvSpPr/>
          <p:nvPr/>
        </p:nvSpPr>
        <p:spPr>
          <a:xfrm>
            <a:off x="8092440" y="3557016"/>
            <a:ext cx="73152" cy="713232"/>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92440" y="4617720"/>
            <a:ext cx="2743200" cy="68580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Ý nghĩa</a:t>
            </a:r>
          </a:p>
          <a:p>
            <a:pPr algn="ctr">
              <a:spcBef>
                <a:spcPts val="500"/>
              </a:spcBef>
              <a:defRPr sz="1100">
                <a:solidFill>
                  <a:srgbClr val="2C3E50"/>
                </a:solidFill>
                <a:latin typeface="Aptos"/>
              </a:defRPr>
            </a:pPr>
            <a:r>
              <a:t>Ít threshold hơn → ít rule hơn → dễ deploy hơn.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KẾT QUẢ</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Latency inference</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DT-CTS nhanh nhất trong reproduction</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16</a:t>
            </a:r>
          </a:p>
        </p:txBody>
      </p:sp>
      <p:sp>
        <p:nvSpPr>
          <p:cNvPr id="8" name="Rounded Rectangle 7"/>
          <p:cNvSpPr/>
          <p:nvPr/>
        </p:nvSpPr>
        <p:spPr>
          <a:xfrm>
            <a:off x="640080" y="1371600"/>
            <a:ext cx="6949440" cy="425196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_latency_v2.png"/>
          <p:cNvPicPr>
            <a:picLocks noChangeAspect="1"/>
          </p:cNvPicPr>
          <p:nvPr/>
        </p:nvPicPr>
        <p:blipFill>
          <a:blip r:embed="rId3"/>
          <a:stretch>
            <a:fillRect/>
          </a:stretch>
        </p:blipFill>
        <p:spPr>
          <a:xfrm>
            <a:off x="713231" y="1444752"/>
            <a:ext cx="6803136" cy="4105656"/>
          </a:xfrm>
          <a:prstGeom prst="rect">
            <a:avLst/>
          </a:prstGeom>
        </p:spPr>
      </p:pic>
      <p:sp>
        <p:nvSpPr>
          <p:cNvPr id="10" name="Rounded Rectangle 9"/>
          <p:cNvSpPr/>
          <p:nvPr/>
        </p:nvSpPr>
        <p:spPr>
          <a:xfrm>
            <a:off x="8092440" y="1600200"/>
            <a:ext cx="27432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1E3A5F"/>
                </a:solidFill>
                <a:latin typeface="Aptos Display"/>
              </a:defRPr>
            </a:pPr>
            <a:r>
              <a:t>0.029 ms</a:t>
            </a:r>
          </a:p>
          <a:p>
            <a:pPr>
              <a:defRPr sz="1050">
                <a:solidFill>
                  <a:srgbClr val="6B7280"/>
                </a:solidFill>
                <a:latin typeface="Aptos"/>
              </a:defRPr>
            </a:pPr>
            <a:r>
              <a:t>DT mean latency</a:t>
            </a:r>
          </a:p>
        </p:txBody>
      </p:sp>
      <p:sp>
        <p:nvSpPr>
          <p:cNvPr id="11" name="Rectangle 10"/>
          <p:cNvSpPr/>
          <p:nvPr/>
        </p:nvSpPr>
        <p:spPr>
          <a:xfrm>
            <a:off x="8092440" y="1600200"/>
            <a:ext cx="73152" cy="713232"/>
          </a:xfrm>
          <a:prstGeom prst="rect">
            <a:avLst/>
          </a:prstGeom>
          <a:solidFill>
            <a:srgbClr val="1E3A5F"/>
          </a:solidFill>
          <a:ln>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2440" y="2578608"/>
            <a:ext cx="27432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F58518"/>
                </a:solidFill>
                <a:latin typeface="Aptos Display"/>
              </a:defRPr>
            </a:pPr>
            <a:r>
              <a:t>0.246 ms</a:t>
            </a:r>
          </a:p>
          <a:p>
            <a:pPr>
              <a:defRPr sz="1050">
                <a:solidFill>
                  <a:srgbClr val="6B7280"/>
                </a:solidFill>
                <a:latin typeface="Aptos"/>
              </a:defRPr>
            </a:pPr>
            <a:r>
              <a:t>RF mean latency</a:t>
            </a:r>
          </a:p>
        </p:txBody>
      </p:sp>
      <p:sp>
        <p:nvSpPr>
          <p:cNvPr id="13" name="Rectangle 12"/>
          <p:cNvSpPr/>
          <p:nvPr/>
        </p:nvSpPr>
        <p:spPr>
          <a:xfrm>
            <a:off x="8092440" y="2578608"/>
            <a:ext cx="73152" cy="713232"/>
          </a:xfrm>
          <a:prstGeom prst="rect">
            <a:avLst/>
          </a:prstGeom>
          <a:solidFill>
            <a:srgbClr val="F58518"/>
          </a:solidFill>
          <a:ln>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2440" y="3557016"/>
            <a:ext cx="274320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0.0012 ms</a:t>
            </a:r>
          </a:p>
          <a:p>
            <a:pPr>
              <a:defRPr sz="1050">
                <a:solidFill>
                  <a:srgbClr val="6B7280"/>
                </a:solidFill>
                <a:latin typeface="Aptos"/>
              </a:defRPr>
            </a:pPr>
            <a:r>
              <a:t>DT-CTS mean latency</a:t>
            </a:r>
          </a:p>
        </p:txBody>
      </p:sp>
      <p:sp>
        <p:nvSpPr>
          <p:cNvPr id="15" name="Rectangle 14"/>
          <p:cNvSpPr/>
          <p:nvPr/>
        </p:nvSpPr>
        <p:spPr>
          <a:xfrm>
            <a:off x="8092440" y="3557016"/>
            <a:ext cx="73152" cy="713232"/>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92440" y="4617720"/>
            <a:ext cx="2743200" cy="68580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Insight</a:t>
            </a:r>
          </a:p>
          <a:p>
            <a:pPr algn="ctr">
              <a:spcBef>
                <a:spcPts val="500"/>
              </a:spcBef>
              <a:defRPr sz="1100">
                <a:solidFill>
                  <a:srgbClr val="2C3E50"/>
                </a:solidFill>
                <a:latin typeface="Aptos"/>
              </a:defRPr>
            </a:pPr>
            <a:r>
              <a:t>Model gọn giúp phản ứng nhanh hơn.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MITIGATION</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Pushback: chặn gần nguồn hơn</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Switch phát hiện attack rồi báo upstream block source</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17</a:t>
            </a:r>
          </a:p>
        </p:txBody>
      </p:sp>
      <p:sp>
        <p:nvSpPr>
          <p:cNvPr id="8" name="Rounded Rectangle 7"/>
          <p:cNvSpPr/>
          <p:nvPr/>
        </p:nvSpPr>
        <p:spPr>
          <a:xfrm>
            <a:off x="777240" y="2103120"/>
            <a:ext cx="1508760" cy="777240"/>
          </a:xfrm>
          <a:prstGeom prst="roundRect">
            <a:avLst/>
          </a:prstGeom>
          <a:solidFill>
            <a:srgbClr val="FFF0F0"/>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F5A5F"/>
                </a:solidFill>
                <a:latin typeface="Aptos Display"/>
              </a:defRPr>
            </a:pPr>
            <a:r>
              <a:t>Attacker</a:t>
            </a:r>
          </a:p>
          <a:p>
            <a:pPr algn="ctr">
              <a:spcBef>
                <a:spcPts val="500"/>
              </a:spcBef>
              <a:defRPr sz="1100">
                <a:solidFill>
                  <a:srgbClr val="2C3E50"/>
                </a:solidFill>
                <a:latin typeface="Aptos"/>
              </a:defRPr>
            </a:pPr>
            <a:r>
              <a:t>source</a:t>
            </a:r>
          </a:p>
        </p:txBody>
      </p:sp>
      <p:sp>
        <p:nvSpPr>
          <p:cNvPr id="9" name="Rounded Rectangle 8"/>
          <p:cNvSpPr/>
          <p:nvPr/>
        </p:nvSpPr>
        <p:spPr>
          <a:xfrm>
            <a:off x="3246120" y="2103120"/>
            <a:ext cx="1325880" cy="77724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S1</a:t>
            </a:r>
          </a:p>
          <a:p>
            <a:pPr algn="ctr">
              <a:spcBef>
                <a:spcPts val="500"/>
              </a:spcBef>
              <a:defRPr sz="1000">
                <a:solidFill>
                  <a:srgbClr val="2C3E50"/>
                </a:solidFill>
                <a:latin typeface="Aptos"/>
              </a:defRPr>
            </a:pPr>
            <a:r>
              <a:t>upstream</a:t>
            </a:r>
          </a:p>
        </p:txBody>
      </p:sp>
      <p:sp>
        <p:nvSpPr>
          <p:cNvPr id="10" name="Rounded Rectangle 9"/>
          <p:cNvSpPr/>
          <p:nvPr/>
        </p:nvSpPr>
        <p:spPr>
          <a:xfrm>
            <a:off x="5623560" y="2103120"/>
            <a:ext cx="1325880" cy="777240"/>
          </a:xfrm>
          <a:prstGeom prst="roundRect">
            <a:avLst/>
          </a:prstGeom>
          <a:solidFill>
            <a:srgbClr val="FFFFFF"/>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S2</a:t>
            </a:r>
          </a:p>
          <a:p>
            <a:pPr algn="ctr">
              <a:spcBef>
                <a:spcPts val="500"/>
              </a:spcBef>
              <a:defRPr sz="1000">
                <a:solidFill>
                  <a:srgbClr val="2C3E50"/>
                </a:solidFill>
                <a:latin typeface="Aptos"/>
              </a:defRPr>
            </a:pPr>
            <a:r>
              <a:t>detect</a:t>
            </a:r>
          </a:p>
        </p:txBody>
      </p:sp>
      <p:sp>
        <p:nvSpPr>
          <p:cNvPr id="11" name="Rounded Rectangle 10"/>
          <p:cNvSpPr/>
          <p:nvPr/>
        </p:nvSpPr>
        <p:spPr>
          <a:xfrm>
            <a:off x="8046720" y="2103120"/>
            <a:ext cx="1508760" cy="77724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Victim</a:t>
            </a:r>
          </a:p>
          <a:p>
            <a:pPr algn="ctr">
              <a:spcBef>
                <a:spcPts val="500"/>
              </a:spcBef>
              <a:defRPr sz="1000">
                <a:solidFill>
                  <a:srgbClr val="2C3E50"/>
                </a:solidFill>
                <a:latin typeface="Aptos"/>
              </a:defRPr>
            </a:pPr>
            <a:r>
              <a:t>server</a:t>
            </a:r>
          </a:p>
        </p:txBody>
      </p:sp>
      <p:cxnSp>
        <p:nvCxnSpPr>
          <p:cNvPr id="12" name="Connector 11"/>
          <p:cNvCxnSpPr/>
          <p:nvPr/>
        </p:nvCxnSpPr>
        <p:spPr>
          <a:xfrm>
            <a:off x="2286000" y="2487168"/>
            <a:ext cx="960120" cy="0"/>
          </a:xfrm>
          <a:prstGeom prst="line">
            <a:avLst/>
          </a:prstGeom>
          <a:ln w="30480">
            <a:solidFill>
              <a:srgbClr val="FF5A5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572000" y="2487168"/>
            <a:ext cx="1051560" cy="0"/>
          </a:xfrm>
          <a:prstGeom prst="line">
            <a:avLst/>
          </a:prstGeom>
          <a:ln w="30480">
            <a:solidFill>
              <a:srgbClr val="FF5A5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949440" y="2487168"/>
            <a:ext cx="1097280" cy="0"/>
          </a:xfrm>
          <a:prstGeom prst="line">
            <a:avLst/>
          </a:prstGeom>
          <a:ln w="30480">
            <a:solidFill>
              <a:srgbClr val="FF5A5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429000" y="3749039"/>
            <a:ext cx="2194560" cy="0"/>
          </a:xfrm>
          <a:prstGeom prst="line">
            <a:avLst/>
          </a:prstGeom>
          <a:ln w="30480">
            <a:solidFill>
              <a:srgbClr val="4CAF5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291840" y="3913632"/>
            <a:ext cx="2834640" cy="566928"/>
          </a:xfrm>
          <a:prstGeom prst="roundRect">
            <a:avLst/>
          </a:prstGeom>
          <a:solidFill>
            <a:srgbClr val="ECF8E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300" b="1">
                <a:solidFill>
                  <a:srgbClr val="4CAF50"/>
                </a:solidFill>
                <a:latin typeface="Aptos Display"/>
              </a:defRPr>
            </a:pPr>
            <a:r>
              <a:t>Pushback alert: block source ở upstream</a:t>
            </a:r>
          </a:p>
        </p:txBody>
      </p:sp>
      <p:sp>
        <p:nvSpPr>
          <p:cNvPr id="17" name="Rounded Rectangle 16"/>
          <p:cNvSpPr/>
          <p:nvPr/>
        </p:nvSpPr>
        <p:spPr>
          <a:xfrm>
            <a:off x="8366760" y="3886200"/>
            <a:ext cx="2514600" cy="91440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Lợi ích</a:t>
            </a:r>
          </a:p>
          <a:p>
            <a:pPr algn="ctr">
              <a:spcBef>
                <a:spcPts val="500"/>
              </a:spcBef>
              <a:defRPr sz="1200">
                <a:solidFill>
                  <a:srgbClr val="2C3E50"/>
                </a:solidFill>
                <a:latin typeface="Aptos"/>
              </a:defRPr>
            </a:pPr>
            <a:r>
              <a:t>Giảm tải cho victim và các hop phía sau.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CẢI TIẾN</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Immediate pushback có điểm yếu gì?</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False positive có thể làm chặn nhầm benign source</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18</a:t>
            </a:r>
          </a:p>
        </p:txBody>
      </p:sp>
      <p:sp>
        <p:nvSpPr>
          <p:cNvPr id="8" name="Rounded Rectangle 7"/>
          <p:cNvSpPr/>
          <p:nvPr/>
        </p:nvSpPr>
        <p:spPr>
          <a:xfrm>
            <a:off x="914400" y="1920240"/>
            <a:ext cx="1828800" cy="914400"/>
          </a:xfrm>
          <a:prstGeom prst="roundRect">
            <a:avLst/>
          </a:prstGeom>
          <a:solidFill>
            <a:srgbClr val="ECF8E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Benign source</a:t>
            </a:r>
          </a:p>
          <a:p>
            <a:pPr algn="ctr">
              <a:spcBef>
                <a:spcPts val="500"/>
              </a:spcBef>
              <a:defRPr sz="1200">
                <a:solidFill>
                  <a:srgbClr val="2C3E50"/>
                </a:solidFill>
                <a:latin typeface="Aptos"/>
              </a:defRPr>
            </a:pPr>
            <a:r>
              <a:t>người dùng thật</a:t>
            </a:r>
          </a:p>
        </p:txBody>
      </p:sp>
      <p:cxnSp>
        <p:nvCxnSpPr>
          <p:cNvPr id="9" name="Connector 8"/>
          <p:cNvCxnSpPr/>
          <p:nvPr/>
        </p:nvCxnSpPr>
        <p:spPr>
          <a:xfrm>
            <a:off x="2743200" y="2377440"/>
            <a:ext cx="1417320" cy="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160520" y="1920240"/>
            <a:ext cx="1828800" cy="914400"/>
          </a:xfrm>
          <a:prstGeom prst="roundRect">
            <a:avLst/>
          </a:prstGeom>
          <a:solidFill>
            <a:srgbClr val="FFF8E5"/>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58518"/>
                </a:solidFill>
                <a:latin typeface="Aptos Display"/>
              </a:defRPr>
            </a:pPr>
            <a:r>
              <a:t>False positive</a:t>
            </a:r>
          </a:p>
          <a:p>
            <a:pPr algn="ctr">
              <a:spcBef>
                <a:spcPts val="500"/>
              </a:spcBef>
              <a:defRPr sz="1200">
                <a:solidFill>
                  <a:srgbClr val="2C3E50"/>
                </a:solidFill>
                <a:latin typeface="Aptos"/>
              </a:defRPr>
            </a:pPr>
            <a:r>
              <a:t>model đoán sai</a:t>
            </a:r>
          </a:p>
        </p:txBody>
      </p:sp>
      <p:cxnSp>
        <p:nvCxnSpPr>
          <p:cNvPr id="11" name="Connector 10"/>
          <p:cNvCxnSpPr/>
          <p:nvPr/>
        </p:nvCxnSpPr>
        <p:spPr>
          <a:xfrm>
            <a:off x="5989320" y="2377440"/>
            <a:ext cx="1417320" cy="0"/>
          </a:xfrm>
          <a:prstGeom prst="line">
            <a:avLst/>
          </a:prstGeom>
          <a:ln w="25400">
            <a:solidFill>
              <a:srgbClr val="FF5A5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06640" y="1920240"/>
            <a:ext cx="1828800" cy="914400"/>
          </a:xfrm>
          <a:prstGeom prst="roundRect">
            <a:avLst/>
          </a:prstGeom>
          <a:solidFill>
            <a:srgbClr val="FFF0F0"/>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F5A5F"/>
                </a:solidFill>
                <a:latin typeface="Aptos Display"/>
              </a:defRPr>
            </a:pPr>
            <a:r>
              <a:t>Blocked</a:t>
            </a:r>
          </a:p>
          <a:p>
            <a:pPr algn="ctr">
              <a:spcBef>
                <a:spcPts val="500"/>
              </a:spcBef>
              <a:defRPr sz="1200">
                <a:solidFill>
                  <a:srgbClr val="2C3E50"/>
                </a:solidFill>
                <a:latin typeface="Aptos"/>
              </a:defRPr>
            </a:pPr>
            <a:r>
              <a:t>chặn nhầm</a:t>
            </a:r>
          </a:p>
        </p:txBody>
      </p:sp>
      <p:sp>
        <p:nvSpPr>
          <p:cNvPr id="13" name="Rounded Rectangle 12"/>
          <p:cNvSpPr/>
          <p:nvPr/>
        </p:nvSpPr>
        <p:spPr>
          <a:xfrm>
            <a:off x="3017520" y="4069080"/>
            <a:ext cx="2514600" cy="77724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FF5A5F"/>
                </a:solidFill>
                <a:latin typeface="Aptos Display"/>
              </a:defRPr>
            </a:pPr>
            <a:r>
              <a:t>21</a:t>
            </a:r>
          </a:p>
          <a:p>
            <a:pPr>
              <a:defRPr sz="1050">
                <a:solidFill>
                  <a:srgbClr val="6B7280"/>
                </a:solidFill>
                <a:latin typeface="Aptos"/>
              </a:defRPr>
            </a:pPr>
            <a:r>
              <a:t>false blocks immediate</a:t>
            </a:r>
          </a:p>
        </p:txBody>
      </p:sp>
      <p:sp>
        <p:nvSpPr>
          <p:cNvPr id="14" name="Rectangle 13"/>
          <p:cNvSpPr/>
          <p:nvPr/>
        </p:nvSpPr>
        <p:spPr>
          <a:xfrm>
            <a:off x="3017520" y="4069080"/>
            <a:ext cx="73152" cy="777240"/>
          </a:xfrm>
          <a:prstGeom prst="rect">
            <a:avLst/>
          </a:prstGeom>
          <a:solidFill>
            <a:srgbClr val="FF5A5F"/>
          </a:solidFill>
          <a:ln>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89320" y="4069080"/>
            <a:ext cx="2514600" cy="77724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2</a:t>
            </a:r>
          </a:p>
          <a:p>
            <a:pPr>
              <a:defRPr sz="1050">
                <a:solidFill>
                  <a:srgbClr val="6B7280"/>
                </a:solidFill>
                <a:latin typeface="Aptos"/>
              </a:defRPr>
            </a:pPr>
            <a:r>
              <a:t>false blocks gated</a:t>
            </a:r>
          </a:p>
        </p:txBody>
      </p:sp>
      <p:sp>
        <p:nvSpPr>
          <p:cNvPr id="16" name="Rectangle 15"/>
          <p:cNvSpPr/>
          <p:nvPr/>
        </p:nvSpPr>
        <p:spPr>
          <a:xfrm>
            <a:off x="5989320" y="4069080"/>
            <a:ext cx="73152" cy="777240"/>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CẢI TIẾN</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Cải tiến: Gated Pushback</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Cần 2 lần malicious liên tiếp mới block upstream</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19</a:t>
            </a:r>
          </a:p>
        </p:txBody>
      </p:sp>
      <p:sp>
        <p:nvSpPr>
          <p:cNvPr id="8" name="Rounded Rectangle 7"/>
          <p:cNvSpPr/>
          <p:nvPr/>
        </p:nvSpPr>
        <p:spPr>
          <a:xfrm>
            <a:off x="777240" y="2148840"/>
            <a:ext cx="2148840" cy="987552"/>
          </a:xfrm>
          <a:prstGeom prst="roundRect">
            <a:avLst/>
          </a:prstGeom>
          <a:solidFill>
            <a:srgbClr val="FFFFFF"/>
          </a:solidFill>
          <a:ln w="1270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Normal</a:t>
            </a:r>
          </a:p>
          <a:p>
            <a:pPr algn="ctr">
              <a:spcBef>
                <a:spcPts val="500"/>
              </a:spcBef>
              <a:defRPr sz="1100">
                <a:solidFill>
                  <a:srgbClr val="2C3E50"/>
                </a:solidFill>
                <a:latin typeface="Aptos"/>
              </a:defRPr>
            </a:pPr>
            <a:r>
              <a:t>chưa nghi ngờ</a:t>
            </a:r>
          </a:p>
        </p:txBody>
      </p:sp>
      <p:cxnSp>
        <p:nvCxnSpPr>
          <p:cNvPr id="9" name="Connector 8"/>
          <p:cNvCxnSpPr/>
          <p:nvPr/>
        </p:nvCxnSpPr>
        <p:spPr>
          <a:xfrm>
            <a:off x="2926080" y="2642616"/>
            <a:ext cx="548640" cy="0"/>
          </a:xfrm>
          <a:prstGeom prst="line">
            <a:avLst/>
          </a:prstGeom>
          <a:ln w="26670">
            <a:solidFill>
              <a:srgbClr val="F4C43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657600" y="2148840"/>
            <a:ext cx="2148840" cy="987552"/>
          </a:xfrm>
          <a:prstGeom prst="roundRect">
            <a:avLst/>
          </a:prstGeom>
          <a:solidFill>
            <a:srgbClr val="FFFFFF"/>
          </a:solidFill>
          <a:ln w="12700">
            <a:solidFill>
              <a:srgbClr val="F4C43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4C430"/>
                </a:solidFill>
                <a:latin typeface="Aptos Display"/>
              </a:defRPr>
            </a:pPr>
            <a:r>
              <a:t>Suspicious #1</a:t>
            </a:r>
          </a:p>
          <a:p>
            <a:pPr algn="ctr">
              <a:spcBef>
                <a:spcPts val="500"/>
              </a:spcBef>
              <a:defRPr sz="1100">
                <a:solidFill>
                  <a:srgbClr val="2C3E50"/>
                </a:solidFill>
                <a:latin typeface="Aptos"/>
              </a:defRPr>
            </a:pPr>
            <a:r>
              <a:t>ghi nhận, chưa block</a:t>
            </a:r>
          </a:p>
        </p:txBody>
      </p:sp>
      <p:cxnSp>
        <p:nvCxnSpPr>
          <p:cNvPr id="11" name="Connector 10"/>
          <p:cNvCxnSpPr/>
          <p:nvPr/>
        </p:nvCxnSpPr>
        <p:spPr>
          <a:xfrm>
            <a:off x="5806440" y="2642616"/>
            <a:ext cx="548640" cy="0"/>
          </a:xfrm>
          <a:prstGeom prst="line">
            <a:avLst/>
          </a:prstGeom>
          <a:ln w="26670">
            <a:solidFill>
              <a:srgbClr val="F4C43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537959" y="2148840"/>
            <a:ext cx="2148840" cy="987552"/>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58518"/>
                </a:solidFill>
                <a:latin typeface="Aptos Display"/>
              </a:defRPr>
            </a:pPr>
            <a:r>
              <a:t>Suspicious #2</a:t>
            </a:r>
          </a:p>
          <a:p>
            <a:pPr algn="ctr">
              <a:spcBef>
                <a:spcPts val="500"/>
              </a:spcBef>
              <a:defRPr sz="1100">
                <a:solidFill>
                  <a:srgbClr val="2C3E50"/>
                </a:solidFill>
                <a:latin typeface="Aptos"/>
              </a:defRPr>
            </a:pPr>
            <a:r>
              <a:t>xác nhận malicious</a:t>
            </a:r>
          </a:p>
        </p:txBody>
      </p:sp>
      <p:cxnSp>
        <p:nvCxnSpPr>
          <p:cNvPr id="13" name="Connector 12"/>
          <p:cNvCxnSpPr/>
          <p:nvPr/>
        </p:nvCxnSpPr>
        <p:spPr>
          <a:xfrm>
            <a:off x="8686800" y="2642616"/>
            <a:ext cx="548640" cy="0"/>
          </a:xfrm>
          <a:prstGeom prst="line">
            <a:avLst/>
          </a:prstGeom>
          <a:ln w="26670">
            <a:solidFill>
              <a:srgbClr val="F5851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418319" y="2148840"/>
            <a:ext cx="2148840" cy="987552"/>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Block upstream</a:t>
            </a:r>
          </a:p>
          <a:p>
            <a:pPr algn="ctr">
              <a:spcBef>
                <a:spcPts val="500"/>
              </a:spcBef>
              <a:defRPr sz="1100">
                <a:solidFill>
                  <a:srgbClr val="2C3E50"/>
                </a:solidFill>
                <a:latin typeface="Aptos"/>
              </a:defRPr>
            </a:pPr>
            <a:r>
              <a:t>chặn gần nguồn</a:t>
            </a:r>
          </a:p>
        </p:txBody>
      </p:sp>
      <p:sp>
        <p:nvSpPr>
          <p:cNvPr id="15" name="Rounded Rectangle 14"/>
          <p:cNvSpPr/>
          <p:nvPr/>
        </p:nvSpPr>
        <p:spPr>
          <a:xfrm>
            <a:off x="1371600" y="4343400"/>
            <a:ext cx="2560320" cy="749808"/>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97.8%</a:t>
            </a:r>
          </a:p>
          <a:p>
            <a:pPr>
              <a:defRPr sz="1050">
                <a:solidFill>
                  <a:srgbClr val="6B7280"/>
                </a:solidFill>
                <a:latin typeface="Aptos"/>
              </a:defRPr>
            </a:pPr>
            <a:r>
              <a:t>attack bytes reduction</a:t>
            </a:r>
          </a:p>
        </p:txBody>
      </p:sp>
      <p:sp>
        <p:nvSpPr>
          <p:cNvPr id="16" name="Rectangle 15"/>
          <p:cNvSpPr/>
          <p:nvPr/>
        </p:nvSpPr>
        <p:spPr>
          <a:xfrm>
            <a:off x="1371600" y="4343400"/>
            <a:ext cx="73152" cy="749808"/>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800600" y="4343400"/>
            <a:ext cx="2560320" cy="749808"/>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2</a:t>
            </a:r>
          </a:p>
          <a:p>
            <a:pPr>
              <a:defRPr sz="1050">
                <a:solidFill>
                  <a:srgbClr val="6B7280"/>
                </a:solidFill>
                <a:latin typeface="Aptos"/>
              </a:defRPr>
            </a:pPr>
            <a:r>
              <a:t>false block events</a:t>
            </a:r>
          </a:p>
        </p:txBody>
      </p:sp>
      <p:sp>
        <p:nvSpPr>
          <p:cNvPr id="18" name="Rectangle 17"/>
          <p:cNvSpPr/>
          <p:nvPr/>
        </p:nvSpPr>
        <p:spPr>
          <a:xfrm>
            <a:off x="4800600" y="4343400"/>
            <a:ext cx="73152" cy="749808"/>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29600" y="4343400"/>
            <a:ext cx="2560320" cy="749808"/>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00BCD4"/>
                </a:solidFill>
                <a:latin typeface="Aptos Display"/>
              </a:defRPr>
            </a:pPr>
            <a:r>
              <a:t>305M</a:t>
            </a:r>
          </a:p>
          <a:p>
            <a:pPr>
              <a:defRPr sz="1050">
                <a:solidFill>
                  <a:srgbClr val="6B7280"/>
                </a:solidFill>
                <a:latin typeface="Aptos"/>
              </a:defRPr>
            </a:pPr>
            <a:r>
              <a:t>benign bytes preserved</a:t>
            </a:r>
          </a:p>
        </p:txBody>
      </p:sp>
      <p:sp>
        <p:nvSpPr>
          <p:cNvPr id="20" name="Rectangle 19"/>
          <p:cNvSpPr/>
          <p:nvPr/>
        </p:nvSpPr>
        <p:spPr>
          <a:xfrm>
            <a:off x="8229600" y="4343400"/>
            <a:ext cx="73152" cy="749808"/>
          </a:xfrm>
          <a:prstGeom prst="rect">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CẢI TIẾN</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So sánh policy pushback</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Gated cân bằng tốt hơn giữa giảm attack và tránh chặn nhầm</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20</a:t>
            </a:r>
          </a:p>
        </p:txBody>
      </p:sp>
      <p:sp>
        <p:nvSpPr>
          <p:cNvPr id="8" name="Rounded Rectangle 7"/>
          <p:cNvSpPr/>
          <p:nvPr/>
        </p:nvSpPr>
        <p:spPr>
          <a:xfrm>
            <a:off x="411480" y="1298448"/>
            <a:ext cx="7955279" cy="443484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_pushback_v2.png"/>
          <p:cNvPicPr>
            <a:picLocks noChangeAspect="1"/>
          </p:cNvPicPr>
          <p:nvPr/>
        </p:nvPicPr>
        <p:blipFill>
          <a:blip r:embed="rId3"/>
          <a:stretch>
            <a:fillRect/>
          </a:stretch>
        </p:blipFill>
        <p:spPr>
          <a:xfrm>
            <a:off x="484632" y="1371600"/>
            <a:ext cx="7808975" cy="4288536"/>
          </a:xfrm>
          <a:prstGeom prst="rect">
            <a:avLst/>
          </a:prstGeom>
        </p:spPr>
      </p:pic>
      <p:sp>
        <p:nvSpPr>
          <p:cNvPr id="10" name="Rounded Rectangle 9"/>
          <p:cNvSpPr/>
          <p:nvPr/>
        </p:nvSpPr>
        <p:spPr>
          <a:xfrm>
            <a:off x="8641080" y="1444752"/>
            <a:ext cx="2651760" cy="713232"/>
          </a:xfrm>
          <a:prstGeom prst="roundRect">
            <a:avLst/>
          </a:prstGeom>
          <a:solidFill>
            <a:srgbClr val="FFFFFF"/>
          </a:solidFill>
          <a:ln w="12700">
            <a:solidFill>
              <a:srgbClr val="9D755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9D755D"/>
                </a:solidFill>
                <a:latin typeface="Aptos Display"/>
              </a:defRPr>
            </a:pPr>
            <a:r>
              <a:t>No pushback</a:t>
            </a:r>
          </a:p>
          <a:p>
            <a:pPr algn="ctr">
              <a:spcBef>
                <a:spcPts val="500"/>
              </a:spcBef>
              <a:defRPr sz="1100">
                <a:solidFill>
                  <a:srgbClr val="2C3E50"/>
                </a:solidFill>
                <a:latin typeface="Aptos"/>
              </a:defRPr>
            </a:pPr>
            <a:r>
              <a:t>attack tới victim nhiều</a:t>
            </a:r>
          </a:p>
        </p:txBody>
      </p:sp>
      <p:sp>
        <p:nvSpPr>
          <p:cNvPr id="11" name="Rounded Rectangle 10"/>
          <p:cNvSpPr/>
          <p:nvPr/>
        </p:nvSpPr>
        <p:spPr>
          <a:xfrm>
            <a:off x="8641080" y="2423160"/>
            <a:ext cx="2651760" cy="713232"/>
          </a:xfrm>
          <a:prstGeom prst="roundRect">
            <a:avLst/>
          </a:prstGeom>
          <a:solidFill>
            <a:srgbClr val="FFFFFF"/>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F5A5F"/>
                </a:solidFill>
                <a:latin typeface="Aptos Display"/>
              </a:defRPr>
            </a:pPr>
            <a:r>
              <a:t>Immediate</a:t>
            </a:r>
          </a:p>
          <a:p>
            <a:pPr algn="ctr">
              <a:spcBef>
                <a:spcPts val="500"/>
              </a:spcBef>
              <a:defRPr sz="1100">
                <a:solidFill>
                  <a:srgbClr val="2C3E50"/>
                </a:solidFill>
                <a:latin typeface="Aptos"/>
              </a:defRPr>
            </a:pPr>
            <a:r>
              <a:t>attack thấp, false block cao</a:t>
            </a:r>
          </a:p>
        </p:txBody>
      </p:sp>
      <p:sp>
        <p:nvSpPr>
          <p:cNvPr id="12" name="Rounded Rectangle 11"/>
          <p:cNvSpPr/>
          <p:nvPr/>
        </p:nvSpPr>
        <p:spPr>
          <a:xfrm>
            <a:off x="8641080" y="3401568"/>
            <a:ext cx="2651760" cy="713232"/>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Gated</a:t>
            </a:r>
          </a:p>
          <a:p>
            <a:pPr algn="ctr">
              <a:spcBef>
                <a:spcPts val="500"/>
              </a:spcBef>
              <a:defRPr sz="1100">
                <a:solidFill>
                  <a:srgbClr val="2C3E50"/>
                </a:solidFill>
                <a:latin typeface="Aptos"/>
              </a:defRPr>
            </a:pPr>
            <a:r>
              <a:t>false block thấp, giữ benign tốt</a:t>
            </a:r>
          </a:p>
        </p:txBody>
      </p:sp>
      <p:sp>
        <p:nvSpPr>
          <p:cNvPr id="13" name="Rounded Rectangle 12"/>
          <p:cNvSpPr/>
          <p:nvPr/>
        </p:nvSpPr>
        <p:spPr>
          <a:xfrm>
            <a:off x="8641080" y="4526280"/>
            <a:ext cx="2651760" cy="713232"/>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lIns="201168" rIns="73152"/>
          <a:lstStyle/>
          <a:p>
            <a:pPr algn="ctr">
              <a:defRPr sz="2800" b="1">
                <a:solidFill>
                  <a:srgbClr val="4CAF50"/>
                </a:solidFill>
                <a:latin typeface="Aptos Display"/>
              </a:defRPr>
            </a:pPr>
            <a:r>
              <a:t>21 → 2</a:t>
            </a:r>
          </a:p>
          <a:p>
            <a:pPr>
              <a:defRPr sz="1050">
                <a:solidFill>
                  <a:srgbClr val="6B7280"/>
                </a:solidFill>
                <a:latin typeface="Aptos"/>
              </a:defRPr>
            </a:pPr>
            <a:r>
              <a:t>false block reduction</a:t>
            </a:r>
          </a:p>
        </p:txBody>
      </p:sp>
      <p:sp>
        <p:nvSpPr>
          <p:cNvPr id="14" name="Rectangle 13"/>
          <p:cNvSpPr/>
          <p:nvPr/>
        </p:nvSpPr>
        <p:spPr>
          <a:xfrm>
            <a:off x="8641080" y="4526280"/>
            <a:ext cx="73152" cy="713232"/>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LAB</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BMv2/P4 lab trong project</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Mininet lab minh họa hướng triển khai data plane</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21</a:t>
            </a:r>
          </a:p>
        </p:txBody>
      </p:sp>
      <p:sp>
        <p:nvSpPr>
          <p:cNvPr id="8" name="Rounded Rectangle 7"/>
          <p:cNvSpPr/>
          <p:nvPr/>
        </p:nvSpPr>
        <p:spPr>
          <a:xfrm>
            <a:off x="822960" y="1920240"/>
            <a:ext cx="1051560" cy="594360"/>
          </a:xfrm>
          <a:prstGeom prst="roundRect">
            <a:avLst/>
          </a:prstGeom>
          <a:solidFill>
            <a:srgbClr val="ECF8E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h1</a:t>
            </a:r>
          </a:p>
          <a:p>
            <a:pPr algn="ctr">
              <a:spcBef>
                <a:spcPts val="500"/>
              </a:spcBef>
              <a:defRPr sz="900">
                <a:solidFill>
                  <a:srgbClr val="2C3E50"/>
                </a:solidFill>
                <a:latin typeface="Aptos"/>
              </a:defRPr>
            </a:pPr>
            <a:r>
              <a:t>benign</a:t>
            </a:r>
          </a:p>
        </p:txBody>
      </p:sp>
      <p:sp>
        <p:nvSpPr>
          <p:cNvPr id="9" name="Rounded Rectangle 8"/>
          <p:cNvSpPr/>
          <p:nvPr/>
        </p:nvSpPr>
        <p:spPr>
          <a:xfrm>
            <a:off x="822960" y="3154680"/>
            <a:ext cx="1051560" cy="594360"/>
          </a:xfrm>
          <a:prstGeom prst="roundRect">
            <a:avLst/>
          </a:prstGeom>
          <a:solidFill>
            <a:srgbClr val="FFF0F0"/>
          </a:solidFill>
          <a:ln w="12700">
            <a:solidFill>
              <a:srgbClr val="FF5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FF5A5F"/>
                </a:solidFill>
                <a:latin typeface="Aptos Display"/>
              </a:defRPr>
            </a:pPr>
            <a:r>
              <a:t>h2</a:t>
            </a:r>
          </a:p>
          <a:p>
            <a:pPr algn="ctr">
              <a:spcBef>
                <a:spcPts val="500"/>
              </a:spcBef>
              <a:defRPr sz="900">
                <a:solidFill>
                  <a:srgbClr val="2C3E50"/>
                </a:solidFill>
                <a:latin typeface="Aptos"/>
              </a:defRPr>
            </a:pPr>
            <a:r>
              <a:t>attack lab</a:t>
            </a:r>
          </a:p>
        </p:txBody>
      </p:sp>
      <p:sp>
        <p:nvSpPr>
          <p:cNvPr id="10" name="Rounded Rectangle 9"/>
          <p:cNvSpPr/>
          <p:nvPr/>
        </p:nvSpPr>
        <p:spPr>
          <a:xfrm>
            <a:off x="2743200" y="1920240"/>
            <a:ext cx="1005840" cy="59436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s1</a:t>
            </a:r>
          </a:p>
          <a:p>
            <a:pPr algn="ctr">
              <a:spcBef>
                <a:spcPts val="500"/>
              </a:spcBef>
              <a:defRPr sz="900">
                <a:solidFill>
                  <a:srgbClr val="2C3E50"/>
                </a:solidFill>
                <a:latin typeface="Aptos"/>
              </a:defRPr>
            </a:pPr>
            <a:r>
              <a:t>BMv2</a:t>
            </a:r>
          </a:p>
        </p:txBody>
      </p:sp>
      <p:sp>
        <p:nvSpPr>
          <p:cNvPr id="11" name="Rounded Rectangle 10"/>
          <p:cNvSpPr/>
          <p:nvPr/>
        </p:nvSpPr>
        <p:spPr>
          <a:xfrm>
            <a:off x="2743200" y="3154680"/>
            <a:ext cx="1005840" cy="59436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s2</a:t>
            </a:r>
          </a:p>
          <a:p>
            <a:pPr algn="ctr">
              <a:spcBef>
                <a:spcPts val="500"/>
              </a:spcBef>
              <a:defRPr sz="900">
                <a:solidFill>
                  <a:srgbClr val="2C3E50"/>
                </a:solidFill>
                <a:latin typeface="Aptos"/>
              </a:defRPr>
            </a:pPr>
            <a:r>
              <a:t>BMv2</a:t>
            </a:r>
          </a:p>
        </p:txBody>
      </p:sp>
      <p:sp>
        <p:nvSpPr>
          <p:cNvPr id="12" name="Rounded Rectangle 11"/>
          <p:cNvSpPr/>
          <p:nvPr/>
        </p:nvSpPr>
        <p:spPr>
          <a:xfrm>
            <a:off x="4846320" y="2542032"/>
            <a:ext cx="1005840" cy="594360"/>
          </a:xfrm>
          <a:prstGeom prst="roundRect">
            <a:avLst/>
          </a:prstGeom>
          <a:solidFill>
            <a:srgbClr val="FFFFFF"/>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s3</a:t>
            </a:r>
          </a:p>
          <a:p>
            <a:pPr algn="ctr">
              <a:spcBef>
                <a:spcPts val="500"/>
              </a:spcBef>
              <a:defRPr sz="900">
                <a:solidFill>
                  <a:srgbClr val="2C3E50"/>
                </a:solidFill>
                <a:latin typeface="Aptos"/>
              </a:defRPr>
            </a:pPr>
            <a:r>
              <a:t>BMv2</a:t>
            </a:r>
          </a:p>
        </p:txBody>
      </p:sp>
      <p:sp>
        <p:nvSpPr>
          <p:cNvPr id="13" name="Rounded Rectangle 12"/>
          <p:cNvSpPr/>
          <p:nvPr/>
        </p:nvSpPr>
        <p:spPr>
          <a:xfrm>
            <a:off x="6858000" y="2542032"/>
            <a:ext cx="1143000" cy="594360"/>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4CAF50"/>
                </a:solidFill>
                <a:latin typeface="Aptos Display"/>
              </a:defRPr>
            </a:pPr>
            <a:r>
              <a:t>h3</a:t>
            </a:r>
          </a:p>
          <a:p>
            <a:pPr algn="ctr">
              <a:spcBef>
                <a:spcPts val="500"/>
              </a:spcBef>
              <a:defRPr sz="900">
                <a:solidFill>
                  <a:srgbClr val="2C3E50"/>
                </a:solidFill>
                <a:latin typeface="Aptos"/>
              </a:defRPr>
            </a:pPr>
            <a:r>
              <a:t>victim</a:t>
            </a:r>
          </a:p>
        </p:txBody>
      </p:sp>
      <p:cxnSp>
        <p:nvCxnSpPr>
          <p:cNvPr id="14" name="Connector 13"/>
          <p:cNvCxnSpPr/>
          <p:nvPr/>
        </p:nvCxnSpPr>
        <p:spPr>
          <a:xfrm>
            <a:off x="1874519" y="2221992"/>
            <a:ext cx="868681" cy="0"/>
          </a:xfrm>
          <a:prstGeom prst="line">
            <a:avLst/>
          </a:prstGeom>
          <a:ln w="27940">
            <a:solidFill>
              <a:srgbClr val="4CAF5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874519" y="3456432"/>
            <a:ext cx="868681" cy="0"/>
          </a:xfrm>
          <a:prstGeom prst="line">
            <a:avLst/>
          </a:prstGeom>
          <a:ln w="27940">
            <a:solidFill>
              <a:srgbClr val="FF5A5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749039" y="2221992"/>
            <a:ext cx="1097281" cy="539496"/>
          </a:xfrm>
          <a:prstGeom prst="line">
            <a:avLst/>
          </a:prstGeom>
          <a:ln w="27940">
            <a:solidFill>
              <a:srgbClr val="00BCD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749039" y="2889504"/>
            <a:ext cx="1097281" cy="566928"/>
          </a:xfrm>
          <a:prstGeom prst="line">
            <a:avLst/>
          </a:prstGeom>
          <a:ln w="27940">
            <a:solidFill>
              <a:srgbClr val="FF5A5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52160" y="2834640"/>
            <a:ext cx="1005840" cy="0"/>
          </a:xfrm>
          <a:prstGeom prst="line">
            <a:avLst/>
          </a:prstGeom>
          <a:ln w="27940">
            <a:solidFill>
              <a:srgbClr val="00BCD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49640" y="1874519"/>
            <a:ext cx="2606040" cy="1600200"/>
          </a:xfrm>
          <a:prstGeom prst="roundRect">
            <a:avLst/>
          </a:prstGeom>
          <a:solidFill>
            <a:srgbClr val="FFFFFF"/>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1E3A5F"/>
                </a:solidFill>
                <a:latin typeface="Aptos Display"/>
              </a:defRPr>
            </a:pPr>
            <a:r>
              <a:t>Vai trò lab</a:t>
            </a:r>
          </a:p>
          <a:p>
            <a:pPr algn="ctr">
              <a:spcBef>
                <a:spcPts val="500"/>
              </a:spcBef>
              <a:defRPr sz="1300">
                <a:solidFill>
                  <a:srgbClr val="2C3E50"/>
                </a:solidFill>
                <a:latin typeface="Aptos"/>
              </a:defRPr>
            </a:pPr>
            <a:r>
              <a:t>Chứng minh project có hướng triển khai P4/BMv2, nhưng vẫn là môi trường thử nghiệm.</a:t>
            </a:r>
          </a:p>
        </p:txBody>
      </p:sp>
      <p:sp>
        <p:nvSpPr>
          <p:cNvPr id="20" name="Oval 19"/>
          <p:cNvSpPr/>
          <p:nvPr/>
        </p:nvSpPr>
        <p:spPr>
          <a:xfrm>
            <a:off x="914400" y="4690872"/>
            <a:ext cx="100584" cy="100584"/>
          </a:xfrm>
          <a:prstGeom prst="ellipse">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 y="4617720"/>
            <a:ext cx="6016752" cy="320040"/>
          </a:xfrm>
          <a:prstGeom prst="rect">
            <a:avLst/>
          </a:prstGeom>
          <a:noFill/>
        </p:spPr>
        <p:txBody>
          <a:bodyPr wrap="square">
            <a:spAutoFit/>
          </a:bodyPr>
          <a:lstStyle/>
          <a:p>
            <a:pPr algn="l">
              <a:defRPr sz="1700" b="0">
                <a:solidFill>
                  <a:srgbClr val="2C3E50"/>
                </a:solidFill>
                <a:latin typeface="Aptos"/>
              </a:defRPr>
            </a:pPr>
            <a:r>
              <a:t>P4 parser/table/action</a:t>
            </a:r>
          </a:p>
        </p:txBody>
      </p:sp>
      <p:sp>
        <p:nvSpPr>
          <p:cNvPr id="22" name="Oval 21"/>
          <p:cNvSpPr/>
          <p:nvPr/>
        </p:nvSpPr>
        <p:spPr>
          <a:xfrm>
            <a:off x="914400" y="5010912"/>
            <a:ext cx="100584" cy="100584"/>
          </a:xfrm>
          <a:prstGeom prst="ellipse">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5568" y="4937759"/>
            <a:ext cx="6016752" cy="320040"/>
          </a:xfrm>
          <a:prstGeom prst="rect">
            <a:avLst/>
          </a:prstGeom>
          <a:noFill/>
        </p:spPr>
        <p:txBody>
          <a:bodyPr wrap="square">
            <a:spAutoFit/>
          </a:bodyPr>
          <a:lstStyle/>
          <a:p>
            <a:pPr algn="l">
              <a:defRPr sz="1700" b="0">
                <a:solidFill>
                  <a:srgbClr val="2C3E50"/>
                </a:solidFill>
                <a:latin typeface="Aptos"/>
              </a:defRPr>
            </a:pPr>
            <a:r>
              <a:t>Generated CLI rules</a:t>
            </a:r>
          </a:p>
        </p:txBody>
      </p:sp>
      <p:sp>
        <p:nvSpPr>
          <p:cNvPr id="24" name="Oval 23"/>
          <p:cNvSpPr/>
          <p:nvPr/>
        </p:nvSpPr>
        <p:spPr>
          <a:xfrm>
            <a:off x="914400" y="5330952"/>
            <a:ext cx="100584" cy="100584"/>
          </a:xfrm>
          <a:prstGeom prst="ellipse">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15568" y="5257800"/>
            <a:ext cx="6016752" cy="320040"/>
          </a:xfrm>
          <a:prstGeom prst="rect">
            <a:avLst/>
          </a:prstGeom>
          <a:noFill/>
        </p:spPr>
        <p:txBody>
          <a:bodyPr wrap="square">
            <a:spAutoFit/>
          </a:bodyPr>
          <a:lstStyle/>
          <a:p>
            <a:pPr algn="l">
              <a:defRPr sz="1700" b="0">
                <a:solidFill>
                  <a:srgbClr val="2C3E50"/>
                </a:solidFill>
                <a:latin typeface="Aptos"/>
              </a:defRPr>
            </a:pPr>
            <a:r>
              <a:t>Source-block pushback rule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ĐÁNH GIÁ</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Multi-dataset validation</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Kiểm tra thêm khả năng tổng quát hóa của DT-CTS</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22</a:t>
            </a:r>
          </a:p>
        </p:txBody>
      </p:sp>
      <p:sp>
        <p:nvSpPr>
          <p:cNvPr id="8" name="Rounded Rectangle 7"/>
          <p:cNvSpPr/>
          <p:nvPr/>
        </p:nvSpPr>
        <p:spPr>
          <a:xfrm>
            <a:off x="822960" y="1572768"/>
            <a:ext cx="10424160" cy="502920"/>
          </a:xfrm>
          <a:prstGeom prst="roundRect">
            <a:avLst/>
          </a:prstGeom>
          <a:solidFill>
            <a:srgbClr val="1E3A5F"/>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300" b="1">
                <a:solidFill>
                  <a:srgbClr val="FFFFFF"/>
                </a:solidFill>
                <a:latin typeface="Aptos Display"/>
              </a:defRPr>
            </a:pPr>
            <a:r>
              <a:t>Dataset                         Accuracy        F1-score        Source</a:t>
            </a:r>
          </a:p>
        </p:txBody>
      </p:sp>
      <p:sp>
        <p:nvSpPr>
          <p:cNvPr id="9" name="Rounded Rectangle 8"/>
          <p:cNvSpPr/>
          <p:nvPr/>
        </p:nvSpPr>
        <p:spPr>
          <a:xfrm>
            <a:off x="822960" y="2148840"/>
            <a:ext cx="10424160" cy="50292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200" b="1">
                <a:solidFill>
                  <a:srgbClr val="2C3E50"/>
                </a:solidFill>
                <a:latin typeface="Aptos Display"/>
              </a:defRPr>
            </a:pPr>
            <a:r>
              <a:t>CICIDS2017                     0.9568         0.9574         Real Kaggle nếu có</a:t>
            </a:r>
          </a:p>
        </p:txBody>
      </p:sp>
      <p:sp>
        <p:nvSpPr>
          <p:cNvPr id="10" name="Rounded Rectangle 9"/>
          <p:cNvSpPr/>
          <p:nvPr/>
        </p:nvSpPr>
        <p:spPr>
          <a:xfrm>
            <a:off x="822960" y="2807208"/>
            <a:ext cx="10424160" cy="502920"/>
          </a:xfrm>
          <a:prstGeom prst="roundRect">
            <a:avLst/>
          </a:prstGeom>
          <a:solidFill>
            <a:srgbClr val="F0F5FA"/>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200" b="1">
                <a:solidFill>
                  <a:srgbClr val="2C3E50"/>
                </a:solidFill>
                <a:latin typeface="Aptos Display"/>
              </a:defRPr>
            </a:pPr>
            <a:r>
              <a:t>CICIDS2018                     0.9983         0.9983         Synthetic variant</a:t>
            </a:r>
          </a:p>
        </p:txBody>
      </p:sp>
      <p:sp>
        <p:nvSpPr>
          <p:cNvPr id="11" name="Rounded Rectangle 10"/>
          <p:cNvSpPr/>
          <p:nvPr/>
        </p:nvSpPr>
        <p:spPr>
          <a:xfrm>
            <a:off x="822960" y="3465576"/>
            <a:ext cx="10424160" cy="502920"/>
          </a:xfrm>
          <a:prstGeom prst="roundRect">
            <a:avLst/>
          </a:prstGeom>
          <a:solidFill>
            <a:srgbClr val="FFFFFF"/>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200" b="1">
                <a:solidFill>
                  <a:srgbClr val="2C3E50"/>
                </a:solidFill>
                <a:latin typeface="Aptos Display"/>
              </a:defRPr>
            </a:pPr>
            <a:r>
              <a:t>CIC-DDoS2019                   1.0000         1.0000         Synthetic variant</a:t>
            </a:r>
          </a:p>
        </p:txBody>
      </p:sp>
      <p:sp>
        <p:nvSpPr>
          <p:cNvPr id="12" name="Rounded Rectangle 11"/>
          <p:cNvSpPr/>
          <p:nvPr/>
        </p:nvSpPr>
        <p:spPr>
          <a:xfrm>
            <a:off x="822960" y="4123944"/>
            <a:ext cx="10424160" cy="502920"/>
          </a:xfrm>
          <a:prstGeom prst="roundRect">
            <a:avLst/>
          </a:prstGeom>
          <a:solidFill>
            <a:srgbClr val="F0F5FA"/>
          </a:solidFill>
          <a:ln w="12700">
            <a:solidFill>
              <a:srgbClr val="D9E2E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200" b="1">
                <a:solidFill>
                  <a:srgbClr val="2C3E50"/>
                </a:solidFill>
                <a:latin typeface="Aptos Display"/>
              </a:defRPr>
            </a:pPr>
            <a:r>
              <a:t>CICIoT2023                     1.0000         1.0000         Synthetic variant</a:t>
            </a:r>
          </a:p>
        </p:txBody>
      </p:sp>
      <p:sp>
        <p:nvSpPr>
          <p:cNvPr id="13" name="Rounded Rectangle 12"/>
          <p:cNvSpPr/>
          <p:nvPr/>
        </p:nvSpPr>
        <p:spPr>
          <a:xfrm>
            <a:off x="1097280" y="5166360"/>
            <a:ext cx="9875520" cy="548640"/>
          </a:xfrm>
          <a:prstGeom prst="roundRect">
            <a:avLst/>
          </a:prstGeom>
          <a:solidFill>
            <a:srgbClr val="FFF8E5"/>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300" b="1">
                <a:solidFill>
                  <a:srgbClr val="F58518"/>
                </a:solidFill>
                <a:latin typeface="Aptos Display"/>
              </a:defRPr>
            </a:pPr>
            <a:r>
              <a:t>Lưu ý: các dataset ngoài CICIDS2017 là synthetic variants, nên dùng để bổ sung góc nhìn chứ không thay thế benchmark thật.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00BCD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FFFFFF"/>
                </a:solidFill>
                <a:latin typeface="Aptos Display"/>
              </a:defRPr>
            </a:pPr>
            <a:r>
              <a:t>ĐÁNH GIÁ</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0B1F3A"/>
                </a:solidFill>
                <a:latin typeface="Aptos Display"/>
              </a:defRPr>
            </a:pPr>
            <a:r>
              <a:t>Giới hạn cần nói rõ</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6B7280"/>
                </a:solidFill>
                <a:latin typeface="Aptos"/>
              </a:defRPr>
            </a:pPr>
            <a:r>
              <a:t>Trung thực về phạm vi giúp bảo vệ đồ án tốt hơn</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6B728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6B7280"/>
                </a:solidFill>
                <a:latin typeface="Aptos"/>
              </a:defRPr>
            </a:pPr>
            <a:r>
              <a:t>23</a:t>
            </a:r>
          </a:p>
        </p:txBody>
      </p:sp>
      <p:sp>
        <p:nvSpPr>
          <p:cNvPr id="8" name="Rounded Rectangle 7"/>
          <p:cNvSpPr/>
          <p:nvPr/>
        </p:nvSpPr>
        <p:spPr>
          <a:xfrm>
            <a:off x="777240" y="1691640"/>
            <a:ext cx="4709160" cy="1005840"/>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800" b="1">
                <a:solidFill>
                  <a:srgbClr val="F58518"/>
                </a:solidFill>
                <a:latin typeface="Aptos Display"/>
              </a:defRPr>
            </a:pPr>
            <a:r>
              <a:t>Reduced reproduction</a:t>
            </a:r>
          </a:p>
          <a:p>
            <a:pPr algn="l">
              <a:spcBef>
                <a:spcPts val="500"/>
              </a:spcBef>
              <a:defRPr sz="1300">
                <a:solidFill>
                  <a:srgbClr val="2C3E50"/>
                </a:solidFill>
                <a:latin typeface="Aptos"/>
              </a:defRPr>
            </a:pPr>
            <a:r>
              <a:t>Không reproduce 1:1 toàn bộ paper</a:t>
            </a:r>
          </a:p>
        </p:txBody>
      </p:sp>
      <p:sp>
        <p:nvSpPr>
          <p:cNvPr id="9" name="Rounded Rectangle 8"/>
          <p:cNvSpPr/>
          <p:nvPr/>
        </p:nvSpPr>
        <p:spPr>
          <a:xfrm>
            <a:off x="6263640" y="1691640"/>
            <a:ext cx="4709160" cy="1005840"/>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800" b="1">
                <a:solidFill>
                  <a:srgbClr val="F58518"/>
                </a:solidFill>
                <a:latin typeface="Aptos Display"/>
              </a:defRPr>
            </a:pPr>
            <a:r>
              <a:t>Flow-level simulation</a:t>
            </a:r>
          </a:p>
          <a:p>
            <a:pPr algn="l">
              <a:spcBef>
                <a:spcPts val="500"/>
              </a:spcBef>
              <a:defRPr sz="1300">
                <a:solidFill>
                  <a:srgbClr val="2C3E50"/>
                </a:solidFill>
                <a:latin typeface="Aptos"/>
              </a:defRPr>
            </a:pPr>
            <a:r>
              <a:t>Pushback chưa phải đo trực tiếp mạng thật</a:t>
            </a:r>
          </a:p>
        </p:txBody>
      </p:sp>
      <p:sp>
        <p:nvSpPr>
          <p:cNvPr id="10" name="Rounded Rectangle 9"/>
          <p:cNvSpPr/>
          <p:nvPr/>
        </p:nvSpPr>
        <p:spPr>
          <a:xfrm>
            <a:off x="777240" y="3291840"/>
            <a:ext cx="4709160" cy="1005840"/>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800" b="1">
                <a:solidFill>
                  <a:srgbClr val="F58518"/>
                </a:solidFill>
                <a:latin typeface="Aptos Display"/>
              </a:defRPr>
            </a:pPr>
            <a:r>
              <a:t>BMv2/Mininet lab</a:t>
            </a:r>
          </a:p>
          <a:p>
            <a:pPr algn="l">
              <a:spcBef>
                <a:spcPts val="500"/>
              </a:spcBef>
              <a:defRPr sz="1300">
                <a:solidFill>
                  <a:srgbClr val="2C3E50"/>
                </a:solidFill>
                <a:latin typeface="Aptos"/>
              </a:defRPr>
            </a:pPr>
            <a:r>
              <a:t>Môi trường lab, không phải production</a:t>
            </a:r>
          </a:p>
        </p:txBody>
      </p:sp>
      <p:sp>
        <p:nvSpPr>
          <p:cNvPr id="11" name="Rounded Rectangle 10"/>
          <p:cNvSpPr/>
          <p:nvPr/>
        </p:nvSpPr>
        <p:spPr>
          <a:xfrm>
            <a:off x="6263640" y="3291840"/>
            <a:ext cx="4709160" cy="1005840"/>
          </a:xfrm>
          <a:prstGeom prst="roundRect">
            <a:avLst/>
          </a:prstGeom>
          <a:solidFill>
            <a:srgbClr val="FFFFFF"/>
          </a:solidFill>
          <a:ln w="12700">
            <a:solidFill>
              <a:srgbClr val="F5851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defRPr sz="1800" b="1">
                <a:solidFill>
                  <a:srgbClr val="F58518"/>
                </a:solidFill>
                <a:latin typeface="Aptos Display"/>
              </a:defRPr>
            </a:pPr>
            <a:r>
              <a:t>Resource proxy</a:t>
            </a:r>
          </a:p>
          <a:p>
            <a:pPr algn="l">
              <a:spcBef>
                <a:spcPts val="500"/>
              </a:spcBef>
              <a:defRPr sz="1300">
                <a:solidFill>
                  <a:srgbClr val="2C3E50"/>
                </a:solidFill>
                <a:latin typeface="Aptos"/>
              </a:defRPr>
            </a:pPr>
            <a:r>
              <a:t>Threshold/rule chưa phải TCAM/SRAM thật</a:t>
            </a:r>
          </a:p>
        </p:txBody>
      </p:sp>
      <p:sp>
        <p:nvSpPr>
          <p:cNvPr id="12" name="Rounded Rectangle 11"/>
          <p:cNvSpPr/>
          <p:nvPr/>
        </p:nvSpPr>
        <p:spPr>
          <a:xfrm>
            <a:off x="1234440" y="5166360"/>
            <a:ext cx="9509760" cy="566928"/>
          </a:xfrm>
          <a:prstGeom prst="round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500" b="1">
                <a:solidFill>
                  <a:srgbClr val="4CAF50"/>
                </a:solidFill>
                <a:latin typeface="Aptos Display"/>
              </a:defRPr>
            </a:pPr>
            <a:r>
              <a:t>Tuy vậy, project đã tái hiện được ý chính: ML nhẹ, deployability, pushback và gated improvement.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310896"/>
            <a:ext cx="1508760" cy="256032"/>
          </a:xfrm>
          <a:prstGeom prst="roundRect">
            <a:avLst/>
          </a:prstGeom>
          <a:solidFill>
            <a:srgbClr val="14B8C4"/>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850" b="1">
                <a:solidFill>
                  <a:srgbClr val="0B1F3A"/>
                </a:solidFill>
                <a:latin typeface="Aptos Display"/>
              </a:defRPr>
            </a:pPr>
            <a:r>
              <a:t>Q&amp;A</a:t>
            </a:r>
          </a:p>
        </p:txBody>
      </p:sp>
      <p:sp>
        <p:nvSpPr>
          <p:cNvPr id="4" name="TextBox 3"/>
          <p:cNvSpPr txBox="1"/>
          <p:nvPr/>
        </p:nvSpPr>
        <p:spPr>
          <a:xfrm>
            <a:off x="502920" y="658368"/>
            <a:ext cx="9784080" cy="530352"/>
          </a:xfrm>
          <a:prstGeom prst="rect">
            <a:avLst/>
          </a:prstGeom>
          <a:noFill/>
        </p:spPr>
        <p:txBody>
          <a:bodyPr wrap="square">
            <a:spAutoFit/>
          </a:bodyPr>
          <a:lstStyle/>
          <a:p>
            <a:pPr algn="l">
              <a:defRPr sz="3000" b="1">
                <a:solidFill>
                  <a:srgbClr val="FFFFFF"/>
                </a:solidFill>
                <a:latin typeface="Aptos Display"/>
              </a:defRPr>
            </a:pPr>
            <a:r>
              <a:t>Kết luận</a:t>
            </a:r>
          </a:p>
        </p:txBody>
      </p:sp>
      <p:sp>
        <p:nvSpPr>
          <p:cNvPr id="5" name="TextBox 4"/>
          <p:cNvSpPr txBox="1"/>
          <p:nvPr/>
        </p:nvSpPr>
        <p:spPr>
          <a:xfrm>
            <a:off x="521207" y="1143000"/>
            <a:ext cx="9784080" cy="320040"/>
          </a:xfrm>
          <a:prstGeom prst="rect">
            <a:avLst/>
          </a:prstGeom>
          <a:noFill/>
        </p:spPr>
        <p:txBody>
          <a:bodyPr wrap="square">
            <a:spAutoFit/>
          </a:bodyPr>
          <a:lstStyle/>
          <a:p>
            <a:pPr algn="l">
              <a:defRPr sz="1350" b="0">
                <a:solidFill>
                  <a:srgbClr val="D6E6F0"/>
                </a:solidFill>
                <a:latin typeface="Aptos"/>
              </a:defRPr>
            </a:pPr>
            <a:r>
              <a:t>Nếu chỉ nhớ 3 ý</a:t>
            </a:r>
          </a:p>
        </p:txBody>
      </p:sp>
      <p:sp>
        <p:nvSpPr>
          <p:cNvPr id="6" name="TextBox 5"/>
          <p:cNvSpPr txBox="1"/>
          <p:nvPr/>
        </p:nvSpPr>
        <p:spPr>
          <a:xfrm>
            <a:off x="512064" y="6510528"/>
            <a:ext cx="4572000" cy="164592"/>
          </a:xfrm>
          <a:prstGeom prst="rect">
            <a:avLst/>
          </a:prstGeom>
          <a:noFill/>
        </p:spPr>
        <p:txBody>
          <a:bodyPr wrap="square">
            <a:spAutoFit/>
          </a:bodyPr>
          <a:lstStyle/>
          <a:p>
            <a:pPr algn="l">
              <a:defRPr sz="800" b="0">
                <a:solidFill>
                  <a:srgbClr val="D6E6F0"/>
                </a:solidFill>
                <a:latin typeface="Aptos"/>
              </a:defRPr>
            </a:pPr>
            <a:r>
              <a:t>SISTAR Reproduction + Gated Pushback</a:t>
            </a:r>
          </a:p>
        </p:txBody>
      </p:sp>
      <p:sp>
        <p:nvSpPr>
          <p:cNvPr id="7" name="TextBox 6"/>
          <p:cNvSpPr txBox="1"/>
          <p:nvPr/>
        </p:nvSpPr>
        <p:spPr>
          <a:xfrm>
            <a:off x="11155680" y="6473952"/>
            <a:ext cx="502920" cy="201168"/>
          </a:xfrm>
          <a:prstGeom prst="rect">
            <a:avLst/>
          </a:prstGeom>
          <a:noFill/>
        </p:spPr>
        <p:txBody>
          <a:bodyPr wrap="square">
            <a:spAutoFit/>
          </a:bodyPr>
          <a:lstStyle/>
          <a:p>
            <a:pPr algn="r">
              <a:defRPr sz="850" b="0">
                <a:solidFill>
                  <a:srgbClr val="D6E6F0"/>
                </a:solidFill>
                <a:latin typeface="Aptos"/>
              </a:defRPr>
            </a:pPr>
            <a:r>
              <a:t>24</a:t>
            </a:r>
          </a:p>
        </p:txBody>
      </p:sp>
      <p:sp>
        <p:nvSpPr>
          <p:cNvPr id="8" name="Rounded Rectangle 7"/>
          <p:cNvSpPr/>
          <p:nvPr/>
        </p:nvSpPr>
        <p:spPr>
          <a:xfrm>
            <a:off x="868680" y="1737360"/>
            <a:ext cx="3154680" cy="1371600"/>
          </a:xfrm>
          <a:prstGeom prst="roundRect">
            <a:avLst/>
          </a:prstGeom>
          <a:solidFill>
            <a:srgbClr val="132B49"/>
          </a:solidFill>
          <a:ln w="127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5BE3F0"/>
                </a:solidFill>
                <a:latin typeface="Aptos Display"/>
              </a:defRPr>
            </a:pPr>
            <a:r>
              <a:t>SISTAR</a:t>
            </a:r>
          </a:p>
          <a:p>
            <a:pPr algn="ctr">
              <a:spcBef>
                <a:spcPts val="500"/>
              </a:spcBef>
              <a:defRPr sz="1400">
                <a:solidFill>
                  <a:srgbClr val="FFFFFF"/>
                </a:solidFill>
                <a:latin typeface="Aptos"/>
              </a:defRPr>
            </a:pPr>
            <a:r>
              <a:t>Detect DDoS sớm ngay trong switch</a:t>
            </a:r>
          </a:p>
        </p:txBody>
      </p:sp>
      <p:sp>
        <p:nvSpPr>
          <p:cNvPr id="9" name="Rounded Rectangle 8"/>
          <p:cNvSpPr/>
          <p:nvPr/>
        </p:nvSpPr>
        <p:spPr>
          <a:xfrm>
            <a:off x="4526280" y="1737360"/>
            <a:ext cx="3154680" cy="1371600"/>
          </a:xfrm>
          <a:prstGeom prst="roundRect">
            <a:avLst/>
          </a:prstGeom>
          <a:solidFill>
            <a:srgbClr val="132B49"/>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7CF2C2"/>
                </a:solidFill>
                <a:latin typeface="Aptos Display"/>
              </a:defRPr>
            </a:pPr>
            <a:r>
              <a:t>DT-CTS</a:t>
            </a:r>
          </a:p>
          <a:p>
            <a:pPr algn="ctr">
              <a:spcBef>
                <a:spcPts val="500"/>
              </a:spcBef>
              <a:defRPr sz="1400">
                <a:solidFill>
                  <a:srgbClr val="FFFFFF"/>
                </a:solidFill>
                <a:latin typeface="Aptos"/>
              </a:defRPr>
            </a:pPr>
            <a:r>
              <a:t>Model gọn hơn, latency rất thấp</a:t>
            </a:r>
          </a:p>
        </p:txBody>
      </p:sp>
      <p:sp>
        <p:nvSpPr>
          <p:cNvPr id="10" name="Rounded Rectangle 9"/>
          <p:cNvSpPr/>
          <p:nvPr/>
        </p:nvSpPr>
        <p:spPr>
          <a:xfrm>
            <a:off x="8183879" y="1737360"/>
            <a:ext cx="3154680" cy="1371600"/>
          </a:xfrm>
          <a:prstGeom prst="roundRect">
            <a:avLst/>
          </a:prstGeom>
          <a:solidFill>
            <a:srgbClr val="132B49"/>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sz="1800" b="1">
                <a:solidFill>
                  <a:srgbClr val="7CF2C2"/>
                </a:solidFill>
                <a:latin typeface="Aptos Display"/>
              </a:defRPr>
            </a:pPr>
            <a:r>
              <a:t>Gated Pushback</a:t>
            </a:r>
          </a:p>
          <a:p>
            <a:pPr algn="ctr">
              <a:spcBef>
                <a:spcPts val="500"/>
              </a:spcBef>
              <a:defRPr sz="1400">
                <a:solidFill>
                  <a:srgbClr val="FFFFFF"/>
                </a:solidFill>
                <a:latin typeface="Aptos"/>
              </a:defRPr>
            </a:pPr>
            <a:r>
              <a:t>Giảm false block, giữ benign tốt hơn</a:t>
            </a:r>
          </a:p>
        </p:txBody>
      </p:sp>
      <p:sp>
        <p:nvSpPr>
          <p:cNvPr id="11" name="TextBox 10"/>
          <p:cNvSpPr txBox="1"/>
          <p:nvPr/>
        </p:nvSpPr>
        <p:spPr>
          <a:xfrm>
            <a:off x="914400" y="4206240"/>
            <a:ext cx="10332720" cy="502920"/>
          </a:xfrm>
          <a:prstGeom prst="rect">
            <a:avLst/>
          </a:prstGeom>
          <a:noFill/>
        </p:spPr>
        <p:txBody>
          <a:bodyPr wrap="square">
            <a:spAutoFit/>
          </a:bodyPr>
          <a:lstStyle/>
          <a:p>
            <a:pPr algn="ctr">
              <a:defRPr sz="3400" b="1">
                <a:solidFill>
                  <a:srgbClr val="FFFFFF"/>
                </a:solidFill>
                <a:latin typeface="Aptos Display"/>
              </a:defRPr>
            </a:pPr>
            <a:r>
              <a:t>Cảm ơn thầy/cô và các bạn</a:t>
            </a:r>
          </a:p>
        </p:txBody>
      </p:sp>
      <p:sp>
        <p:nvSpPr>
          <p:cNvPr id="12" name="TextBox 11"/>
          <p:cNvSpPr txBox="1"/>
          <p:nvPr/>
        </p:nvSpPr>
        <p:spPr>
          <a:xfrm>
            <a:off x="914400" y="4800600"/>
            <a:ext cx="10332720" cy="320040"/>
          </a:xfrm>
          <a:prstGeom prst="rect">
            <a:avLst/>
          </a:prstGeom>
          <a:noFill/>
        </p:spPr>
        <p:txBody>
          <a:bodyPr wrap="square">
            <a:spAutoFit/>
          </a:bodyPr>
          <a:lstStyle/>
          <a:p>
            <a:pPr algn="ctr">
              <a:defRPr sz="1900" b="0">
                <a:solidFill>
                  <a:srgbClr val="D6E6F0"/>
                </a:solidFill>
                <a:latin typeface="Aptos"/>
              </a:defRPr>
            </a:pPr>
            <a:r>
              <a:t>Sẵn sàng trả lời 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